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4" r:id="rId3"/>
    <p:sldId id="2565" r:id="rId4"/>
    <p:sldId id="2575" r:id="rId5"/>
    <p:sldId id="2566" r:id="rId6"/>
    <p:sldId id="2576" r:id="rId7"/>
    <p:sldId id="2577" r:id="rId8"/>
    <p:sldId id="2578" r:id="rId9"/>
    <p:sldId id="2579" r:id="rId10"/>
    <p:sldId id="2580" r:id="rId11"/>
    <p:sldId id="2581" r:id="rId12"/>
    <p:sldId id="2582" r:id="rId13"/>
    <p:sldId id="258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stone Project Business Analysis" id="{DD1C99C2-2278-4055-9CBA-887DF26E4299}">
          <p14:sldIdLst>
            <p14:sldId id="2561"/>
          </p14:sldIdLst>
        </p14:section>
        <p14:section name="Capstone Project Business Analysis" id="{1D7DCA42-D966-4AE2-AB71-2E09B03D8FC5}">
          <p14:sldIdLst>
            <p14:sldId id="2564"/>
            <p14:sldId id="2565"/>
            <p14:sldId id="2575"/>
            <p14:sldId id="2566"/>
            <p14:sldId id="2576"/>
            <p14:sldId id="2577"/>
            <p14:sldId id="2578"/>
            <p14:sldId id="2579"/>
            <p14:sldId id="2580"/>
            <p14:sldId id="2581"/>
            <p14:sldId id="2582"/>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image" Target="../media/image11.svg"/><Relationship Id="rId5" Type="http://schemas.openxmlformats.org/officeDocument/2006/relationships/image" Target="../media/image15.svg"/><Relationship Id="rId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CCAB7F-7EBB-42B3-9DF8-C0F02388278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F8F74AD-C256-4C4A-B686-C15E2B99E952}">
      <dgm:prSet/>
      <dgm:spPr/>
      <dgm:t>
        <a:bodyPr/>
        <a:lstStyle/>
        <a:p>
          <a:pPr>
            <a:lnSpc>
              <a:spcPct val="100000"/>
            </a:lnSpc>
          </a:pPr>
          <a:r>
            <a:rPr lang="en-US" dirty="0"/>
            <a:t>Imported core Python libraries</a:t>
          </a:r>
        </a:p>
      </dgm:t>
    </dgm:pt>
    <dgm:pt modelId="{1B7D0233-2773-4B62-A786-43E3B35C1383}" type="parTrans" cxnId="{16EF60E9-8CAC-46F5-9F40-84DB1C90E657}">
      <dgm:prSet/>
      <dgm:spPr/>
      <dgm:t>
        <a:bodyPr/>
        <a:lstStyle/>
        <a:p>
          <a:endParaRPr lang="en-US"/>
        </a:p>
      </dgm:t>
    </dgm:pt>
    <dgm:pt modelId="{256231EA-D699-43C1-AE2B-92618B532A89}" type="sibTrans" cxnId="{16EF60E9-8CAC-46F5-9F40-84DB1C90E657}">
      <dgm:prSet/>
      <dgm:spPr/>
      <dgm:t>
        <a:bodyPr/>
        <a:lstStyle/>
        <a:p>
          <a:endParaRPr lang="en-US"/>
        </a:p>
      </dgm:t>
    </dgm:pt>
    <dgm:pt modelId="{08EFFADA-8577-4FBB-AAD2-F4DE17CA6618}">
      <dgm:prSet/>
      <dgm:spPr/>
      <dgm:t>
        <a:bodyPr/>
        <a:lstStyle/>
        <a:p>
          <a:pPr>
            <a:lnSpc>
              <a:spcPct val="100000"/>
            </a:lnSpc>
          </a:pPr>
          <a:r>
            <a:rPr lang="en-US"/>
            <a:t>Built a class for data organization</a:t>
          </a:r>
        </a:p>
      </dgm:t>
    </dgm:pt>
    <dgm:pt modelId="{32D67AE9-15EE-4610-BC8B-A485016AA724}" type="parTrans" cxnId="{E0652D48-03E7-4540-9A93-2DEFB76DC147}">
      <dgm:prSet/>
      <dgm:spPr/>
      <dgm:t>
        <a:bodyPr/>
        <a:lstStyle/>
        <a:p>
          <a:endParaRPr lang="en-US"/>
        </a:p>
      </dgm:t>
    </dgm:pt>
    <dgm:pt modelId="{FA5FA7BB-90D8-41F7-BFAC-6E4BAF91E9DC}" type="sibTrans" cxnId="{E0652D48-03E7-4540-9A93-2DEFB76DC147}">
      <dgm:prSet/>
      <dgm:spPr/>
      <dgm:t>
        <a:bodyPr/>
        <a:lstStyle/>
        <a:p>
          <a:endParaRPr lang="en-US"/>
        </a:p>
      </dgm:t>
    </dgm:pt>
    <dgm:pt modelId="{52ACE99F-9EB1-4EE1-B24C-455B3392DBB5}">
      <dgm:prSet/>
      <dgm:spPr/>
      <dgm:t>
        <a:bodyPr/>
        <a:lstStyle/>
        <a:p>
          <a:pPr>
            <a:lnSpc>
              <a:spcPct val="100000"/>
            </a:lnSpc>
          </a:pPr>
          <a:r>
            <a:rPr lang="en-US" dirty="0"/>
            <a:t>Loaded datasets using pandas (</a:t>
          </a:r>
          <a:r>
            <a:rPr lang="en-US" dirty="0" err="1"/>
            <a:t>pd.read_csv</a:t>
          </a:r>
          <a:r>
            <a:rPr lang="en-US" dirty="0"/>
            <a:t>)</a:t>
          </a:r>
        </a:p>
      </dgm:t>
    </dgm:pt>
    <dgm:pt modelId="{724E98D4-9AA8-4A6B-AE51-1383A7C4C2A3}" type="parTrans" cxnId="{AB8F387C-6BF5-41F2-9CED-EBF3658D0A9E}">
      <dgm:prSet/>
      <dgm:spPr/>
      <dgm:t>
        <a:bodyPr/>
        <a:lstStyle/>
        <a:p>
          <a:endParaRPr lang="en-US"/>
        </a:p>
      </dgm:t>
    </dgm:pt>
    <dgm:pt modelId="{C81F8BB0-F3D4-41D5-86E8-235D409EEDE1}" type="sibTrans" cxnId="{AB8F387C-6BF5-41F2-9CED-EBF3658D0A9E}">
      <dgm:prSet/>
      <dgm:spPr/>
      <dgm:t>
        <a:bodyPr/>
        <a:lstStyle/>
        <a:p>
          <a:endParaRPr lang="en-US"/>
        </a:p>
      </dgm:t>
    </dgm:pt>
    <dgm:pt modelId="{D6A43AB3-7FB5-455B-B81A-52C59E5B925A}">
      <dgm:prSet/>
      <dgm:spPr/>
      <dgm:t>
        <a:bodyPr/>
        <a:lstStyle/>
        <a:p>
          <a:pPr>
            <a:lnSpc>
              <a:spcPct val="100000"/>
            </a:lnSpc>
          </a:pPr>
          <a:r>
            <a:rPr lang="en-US" dirty="0"/>
            <a:t>Created methods to preview data and display info</a:t>
          </a:r>
        </a:p>
      </dgm:t>
    </dgm:pt>
    <dgm:pt modelId="{6175280C-7B00-48B9-A528-EEC7EE5FDE77}" type="parTrans" cxnId="{1AB76D6F-B318-4703-BB24-EF7337ED7B4B}">
      <dgm:prSet/>
      <dgm:spPr/>
      <dgm:t>
        <a:bodyPr/>
        <a:lstStyle/>
        <a:p>
          <a:endParaRPr lang="en-US"/>
        </a:p>
      </dgm:t>
    </dgm:pt>
    <dgm:pt modelId="{3870F056-0C27-4374-9A80-01461C595B41}" type="sibTrans" cxnId="{1AB76D6F-B318-4703-BB24-EF7337ED7B4B}">
      <dgm:prSet/>
      <dgm:spPr/>
      <dgm:t>
        <a:bodyPr/>
        <a:lstStyle/>
        <a:p>
          <a:endParaRPr lang="en-US"/>
        </a:p>
      </dgm:t>
    </dgm:pt>
    <dgm:pt modelId="{24335D13-5257-4BA7-8293-BB13DBAEE6EB}">
      <dgm:prSet/>
      <dgm:spPr/>
      <dgm:t>
        <a:bodyPr/>
        <a:lstStyle/>
        <a:p>
          <a:pPr>
            <a:lnSpc>
              <a:spcPct val="100000"/>
            </a:lnSpc>
          </a:pPr>
          <a:r>
            <a:rPr lang="en-US" dirty="0"/>
            <a:t>Instantiated class and executed methods</a:t>
          </a:r>
        </a:p>
      </dgm:t>
    </dgm:pt>
    <dgm:pt modelId="{31C491BF-668D-4CC3-81D8-26867CC1EC43}" type="parTrans" cxnId="{FAA2D091-EAA7-4502-B630-8CBA30755443}">
      <dgm:prSet/>
      <dgm:spPr/>
      <dgm:t>
        <a:bodyPr/>
        <a:lstStyle/>
        <a:p>
          <a:endParaRPr lang="en-US"/>
        </a:p>
      </dgm:t>
    </dgm:pt>
    <dgm:pt modelId="{452E4BDC-924F-4200-A082-433D30FDA3A4}" type="sibTrans" cxnId="{FAA2D091-EAA7-4502-B630-8CBA30755443}">
      <dgm:prSet/>
      <dgm:spPr/>
      <dgm:t>
        <a:bodyPr/>
        <a:lstStyle/>
        <a:p>
          <a:endParaRPr lang="en-US"/>
        </a:p>
      </dgm:t>
    </dgm:pt>
    <dgm:pt modelId="{4A9908F5-B126-4D48-9AD8-056E57DC4363}" type="pres">
      <dgm:prSet presAssocID="{1DCCAB7F-7EBB-42B3-9DF8-C0F02388278E}" presName="root" presStyleCnt="0">
        <dgm:presLayoutVars>
          <dgm:dir/>
          <dgm:resizeHandles val="exact"/>
        </dgm:presLayoutVars>
      </dgm:prSet>
      <dgm:spPr/>
    </dgm:pt>
    <dgm:pt modelId="{41A63078-87BF-446C-8772-9F40254756BC}" type="pres">
      <dgm:prSet presAssocID="{AF8F74AD-C256-4C4A-B686-C15E2B99E952}" presName="compNode" presStyleCnt="0"/>
      <dgm:spPr/>
    </dgm:pt>
    <dgm:pt modelId="{7B8C7AE2-408B-4208-BA8B-07C3E4E390AF}" type="pres">
      <dgm:prSet presAssocID="{AF8F74AD-C256-4C4A-B686-C15E2B99E952}" presName="bgRect" presStyleLbl="bgShp" presStyleIdx="0" presStyleCnt="5" custLinFactNeighborY="-469"/>
      <dgm:spPr>
        <a:solidFill>
          <a:schemeClr val="bg1">
            <a:lumMod val="85000"/>
          </a:schemeClr>
        </a:solidFill>
      </dgm:spPr>
    </dgm:pt>
    <dgm:pt modelId="{DA7AA332-0AE7-404D-97BB-5AE2F1C2C9F8}" type="pres">
      <dgm:prSet presAssocID="{AF8F74AD-C256-4C4A-B686-C15E2B99E952}"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A34E1448-C5E1-430E-8756-3FA328521B18}" type="pres">
      <dgm:prSet presAssocID="{AF8F74AD-C256-4C4A-B686-C15E2B99E952}" presName="spaceRect" presStyleCnt="0"/>
      <dgm:spPr/>
    </dgm:pt>
    <dgm:pt modelId="{3D730150-430A-4659-8B93-D675E935E9EA}" type="pres">
      <dgm:prSet presAssocID="{AF8F74AD-C256-4C4A-B686-C15E2B99E952}" presName="parTx" presStyleLbl="revTx" presStyleIdx="0" presStyleCnt="5">
        <dgm:presLayoutVars>
          <dgm:chMax val="0"/>
          <dgm:chPref val="0"/>
        </dgm:presLayoutVars>
      </dgm:prSet>
      <dgm:spPr/>
    </dgm:pt>
    <dgm:pt modelId="{CEA3BB71-97DF-4119-AA75-23178DAEA06D}" type="pres">
      <dgm:prSet presAssocID="{256231EA-D699-43C1-AE2B-92618B532A89}" presName="sibTrans" presStyleCnt="0"/>
      <dgm:spPr/>
    </dgm:pt>
    <dgm:pt modelId="{1D16CDE0-90D2-4982-B525-8E3CD1DDA757}" type="pres">
      <dgm:prSet presAssocID="{08EFFADA-8577-4FBB-AAD2-F4DE17CA6618}" presName="compNode" presStyleCnt="0"/>
      <dgm:spPr/>
    </dgm:pt>
    <dgm:pt modelId="{275993C6-CC59-47BE-B4DA-4F138FC85F27}" type="pres">
      <dgm:prSet presAssocID="{08EFFADA-8577-4FBB-AAD2-F4DE17CA6618}" presName="bgRect" presStyleLbl="bgShp" presStyleIdx="1" presStyleCnt="5"/>
      <dgm:spPr>
        <a:solidFill>
          <a:schemeClr val="bg1">
            <a:lumMod val="85000"/>
          </a:schemeClr>
        </a:solidFill>
      </dgm:spPr>
    </dgm:pt>
    <dgm:pt modelId="{1E4D91C0-7421-4034-A61D-BAA4A1E0CB83}" type="pres">
      <dgm:prSet presAssocID="{08EFFADA-8577-4FBB-AAD2-F4DE17CA661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Table"/>
        </a:ext>
      </dgm:extLst>
    </dgm:pt>
    <dgm:pt modelId="{A95D9CE6-CCCE-4916-BAFD-1162C5C653AE}" type="pres">
      <dgm:prSet presAssocID="{08EFFADA-8577-4FBB-AAD2-F4DE17CA6618}" presName="spaceRect" presStyleCnt="0"/>
      <dgm:spPr/>
    </dgm:pt>
    <dgm:pt modelId="{46778FB1-E527-4D7D-87FD-05B1F8088E18}" type="pres">
      <dgm:prSet presAssocID="{08EFFADA-8577-4FBB-AAD2-F4DE17CA6618}" presName="parTx" presStyleLbl="revTx" presStyleIdx="1" presStyleCnt="5">
        <dgm:presLayoutVars>
          <dgm:chMax val="0"/>
          <dgm:chPref val="0"/>
        </dgm:presLayoutVars>
      </dgm:prSet>
      <dgm:spPr/>
    </dgm:pt>
    <dgm:pt modelId="{7E21865A-5820-41B9-B8BC-2EC808D6D533}" type="pres">
      <dgm:prSet presAssocID="{FA5FA7BB-90D8-41F7-BFAC-6E4BAF91E9DC}" presName="sibTrans" presStyleCnt="0"/>
      <dgm:spPr/>
    </dgm:pt>
    <dgm:pt modelId="{C7BC8819-58E9-41B0-8765-CFC75C5167E4}" type="pres">
      <dgm:prSet presAssocID="{52ACE99F-9EB1-4EE1-B24C-455B3392DBB5}" presName="compNode" presStyleCnt="0"/>
      <dgm:spPr/>
    </dgm:pt>
    <dgm:pt modelId="{6FEBE368-65E8-4B9F-BFE6-DB29FCBB55C2}" type="pres">
      <dgm:prSet presAssocID="{52ACE99F-9EB1-4EE1-B24C-455B3392DBB5}" presName="bgRect" presStyleLbl="bgShp" presStyleIdx="2" presStyleCnt="5"/>
      <dgm:spPr>
        <a:solidFill>
          <a:schemeClr val="bg1">
            <a:lumMod val="85000"/>
          </a:schemeClr>
        </a:solidFill>
      </dgm:spPr>
    </dgm:pt>
    <dgm:pt modelId="{86930D5C-DF13-488D-A8C8-253B38250608}" type="pres">
      <dgm:prSet presAssocID="{52ACE99F-9EB1-4EE1-B24C-455B3392DBB5}"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anda"/>
        </a:ext>
      </dgm:extLst>
    </dgm:pt>
    <dgm:pt modelId="{972B42BF-D57A-4408-B887-6D5B6F97FE9D}" type="pres">
      <dgm:prSet presAssocID="{52ACE99F-9EB1-4EE1-B24C-455B3392DBB5}" presName="spaceRect" presStyleCnt="0"/>
      <dgm:spPr/>
    </dgm:pt>
    <dgm:pt modelId="{4F7EA1FD-35C0-4529-88A7-927B930974CC}" type="pres">
      <dgm:prSet presAssocID="{52ACE99F-9EB1-4EE1-B24C-455B3392DBB5}" presName="parTx" presStyleLbl="revTx" presStyleIdx="2" presStyleCnt="5">
        <dgm:presLayoutVars>
          <dgm:chMax val="0"/>
          <dgm:chPref val="0"/>
        </dgm:presLayoutVars>
      </dgm:prSet>
      <dgm:spPr/>
    </dgm:pt>
    <dgm:pt modelId="{3FAFFD00-01A1-4587-B4A2-447158DE1111}" type="pres">
      <dgm:prSet presAssocID="{C81F8BB0-F3D4-41D5-86E8-235D409EEDE1}" presName="sibTrans" presStyleCnt="0"/>
      <dgm:spPr/>
    </dgm:pt>
    <dgm:pt modelId="{AD9EC7E9-7900-431C-8725-FCDD53124381}" type="pres">
      <dgm:prSet presAssocID="{D6A43AB3-7FB5-455B-B81A-52C59E5B925A}" presName="compNode" presStyleCnt="0"/>
      <dgm:spPr/>
    </dgm:pt>
    <dgm:pt modelId="{15129163-5997-47EE-9084-A694CC32B421}" type="pres">
      <dgm:prSet presAssocID="{D6A43AB3-7FB5-455B-B81A-52C59E5B925A}" presName="bgRect" presStyleLbl="bgShp" presStyleIdx="3" presStyleCnt="5"/>
      <dgm:spPr>
        <a:solidFill>
          <a:schemeClr val="bg1">
            <a:lumMod val="85000"/>
          </a:schemeClr>
        </a:solidFill>
      </dgm:spPr>
    </dgm:pt>
    <dgm:pt modelId="{C4DB1F9A-ACE4-4040-8A07-2679EB2A6601}" type="pres">
      <dgm:prSet presAssocID="{D6A43AB3-7FB5-455B-B81A-52C59E5B925A}"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4F243BEF-42CE-449A-B2AF-E2AAE7696E1F}" type="pres">
      <dgm:prSet presAssocID="{D6A43AB3-7FB5-455B-B81A-52C59E5B925A}" presName="spaceRect" presStyleCnt="0"/>
      <dgm:spPr/>
    </dgm:pt>
    <dgm:pt modelId="{AC4C18E3-3D6D-4EC8-8279-4953622ABEB3}" type="pres">
      <dgm:prSet presAssocID="{D6A43AB3-7FB5-455B-B81A-52C59E5B925A}" presName="parTx" presStyleLbl="revTx" presStyleIdx="3" presStyleCnt="5">
        <dgm:presLayoutVars>
          <dgm:chMax val="0"/>
          <dgm:chPref val="0"/>
        </dgm:presLayoutVars>
      </dgm:prSet>
      <dgm:spPr/>
    </dgm:pt>
    <dgm:pt modelId="{03DFD3A0-450C-426D-A042-4267F7FDDA6D}" type="pres">
      <dgm:prSet presAssocID="{3870F056-0C27-4374-9A80-01461C595B41}" presName="sibTrans" presStyleCnt="0"/>
      <dgm:spPr/>
    </dgm:pt>
    <dgm:pt modelId="{28756C91-A105-4138-88E3-C129CF9FE5FD}" type="pres">
      <dgm:prSet presAssocID="{24335D13-5257-4BA7-8293-BB13DBAEE6EB}" presName="compNode" presStyleCnt="0"/>
      <dgm:spPr/>
    </dgm:pt>
    <dgm:pt modelId="{62AEFD66-9F0A-4B31-9349-CDF4B1ACF1C7}" type="pres">
      <dgm:prSet presAssocID="{24335D13-5257-4BA7-8293-BB13DBAEE6EB}" presName="bgRect" presStyleLbl="bgShp" presStyleIdx="4" presStyleCnt="5"/>
      <dgm:spPr>
        <a:solidFill>
          <a:schemeClr val="bg1">
            <a:lumMod val="85000"/>
          </a:schemeClr>
        </a:solidFill>
      </dgm:spPr>
    </dgm:pt>
    <dgm:pt modelId="{A7303DB4-028A-40B4-82B5-CD7FC3D0F1DC}" type="pres">
      <dgm:prSet presAssocID="{24335D13-5257-4BA7-8293-BB13DBAEE6E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Flask"/>
        </a:ext>
      </dgm:extLst>
    </dgm:pt>
    <dgm:pt modelId="{F2635678-21EB-4E40-8E34-52FCB82DA0FE}" type="pres">
      <dgm:prSet presAssocID="{24335D13-5257-4BA7-8293-BB13DBAEE6EB}" presName="spaceRect" presStyleCnt="0"/>
      <dgm:spPr/>
    </dgm:pt>
    <dgm:pt modelId="{E1449741-D5C1-42C3-B670-9C33B9FC7BCB}" type="pres">
      <dgm:prSet presAssocID="{24335D13-5257-4BA7-8293-BB13DBAEE6EB}" presName="parTx" presStyleLbl="revTx" presStyleIdx="4" presStyleCnt="5">
        <dgm:presLayoutVars>
          <dgm:chMax val="0"/>
          <dgm:chPref val="0"/>
        </dgm:presLayoutVars>
      </dgm:prSet>
      <dgm:spPr/>
    </dgm:pt>
  </dgm:ptLst>
  <dgm:cxnLst>
    <dgm:cxn modelId="{6A246620-567E-4E5A-8719-F6F4B667166C}" type="presOf" srcId="{52ACE99F-9EB1-4EE1-B24C-455B3392DBB5}" destId="{4F7EA1FD-35C0-4529-88A7-927B930974CC}" srcOrd="0" destOrd="0" presId="urn:microsoft.com/office/officeart/2018/2/layout/IconVerticalSolidList"/>
    <dgm:cxn modelId="{9B40963F-D8B3-4395-B5D8-F0446E24341D}" type="presOf" srcId="{24335D13-5257-4BA7-8293-BB13DBAEE6EB}" destId="{E1449741-D5C1-42C3-B670-9C33B9FC7BCB}" srcOrd="0" destOrd="0" presId="urn:microsoft.com/office/officeart/2018/2/layout/IconVerticalSolidList"/>
    <dgm:cxn modelId="{E0652D48-03E7-4540-9A93-2DEFB76DC147}" srcId="{1DCCAB7F-7EBB-42B3-9DF8-C0F02388278E}" destId="{08EFFADA-8577-4FBB-AAD2-F4DE17CA6618}" srcOrd="1" destOrd="0" parTransId="{32D67AE9-15EE-4610-BC8B-A485016AA724}" sibTransId="{FA5FA7BB-90D8-41F7-BFAC-6E4BAF91E9DC}"/>
    <dgm:cxn modelId="{9B197C4E-AB9A-46D9-9AC9-0C4C289B937A}" type="presOf" srcId="{1DCCAB7F-7EBB-42B3-9DF8-C0F02388278E}" destId="{4A9908F5-B126-4D48-9AD8-056E57DC4363}" srcOrd="0" destOrd="0" presId="urn:microsoft.com/office/officeart/2018/2/layout/IconVerticalSolidList"/>
    <dgm:cxn modelId="{1AB76D6F-B318-4703-BB24-EF7337ED7B4B}" srcId="{1DCCAB7F-7EBB-42B3-9DF8-C0F02388278E}" destId="{D6A43AB3-7FB5-455B-B81A-52C59E5B925A}" srcOrd="3" destOrd="0" parTransId="{6175280C-7B00-48B9-A528-EEC7EE5FDE77}" sibTransId="{3870F056-0C27-4374-9A80-01461C595B41}"/>
    <dgm:cxn modelId="{AB8F387C-6BF5-41F2-9CED-EBF3658D0A9E}" srcId="{1DCCAB7F-7EBB-42B3-9DF8-C0F02388278E}" destId="{52ACE99F-9EB1-4EE1-B24C-455B3392DBB5}" srcOrd="2" destOrd="0" parTransId="{724E98D4-9AA8-4A6B-AE51-1383A7C4C2A3}" sibTransId="{C81F8BB0-F3D4-41D5-86E8-235D409EEDE1}"/>
    <dgm:cxn modelId="{FAA2D091-EAA7-4502-B630-8CBA30755443}" srcId="{1DCCAB7F-7EBB-42B3-9DF8-C0F02388278E}" destId="{24335D13-5257-4BA7-8293-BB13DBAEE6EB}" srcOrd="4" destOrd="0" parTransId="{31C491BF-668D-4CC3-81D8-26867CC1EC43}" sibTransId="{452E4BDC-924F-4200-A082-433D30FDA3A4}"/>
    <dgm:cxn modelId="{3CCFC894-0726-4D67-82EE-5A63DE5AF8D7}" type="presOf" srcId="{08EFFADA-8577-4FBB-AAD2-F4DE17CA6618}" destId="{46778FB1-E527-4D7D-87FD-05B1F8088E18}" srcOrd="0" destOrd="0" presId="urn:microsoft.com/office/officeart/2018/2/layout/IconVerticalSolidList"/>
    <dgm:cxn modelId="{8853599C-FE2F-49E1-B679-719EB8FB73A6}" type="presOf" srcId="{D6A43AB3-7FB5-455B-B81A-52C59E5B925A}" destId="{AC4C18E3-3D6D-4EC8-8279-4953622ABEB3}" srcOrd="0" destOrd="0" presId="urn:microsoft.com/office/officeart/2018/2/layout/IconVerticalSolidList"/>
    <dgm:cxn modelId="{FB38F69D-8708-4041-A5B3-D4F671D16502}" type="presOf" srcId="{AF8F74AD-C256-4C4A-B686-C15E2B99E952}" destId="{3D730150-430A-4659-8B93-D675E935E9EA}" srcOrd="0" destOrd="0" presId="urn:microsoft.com/office/officeart/2018/2/layout/IconVerticalSolidList"/>
    <dgm:cxn modelId="{16EF60E9-8CAC-46F5-9F40-84DB1C90E657}" srcId="{1DCCAB7F-7EBB-42B3-9DF8-C0F02388278E}" destId="{AF8F74AD-C256-4C4A-B686-C15E2B99E952}" srcOrd="0" destOrd="0" parTransId="{1B7D0233-2773-4B62-A786-43E3B35C1383}" sibTransId="{256231EA-D699-43C1-AE2B-92618B532A89}"/>
    <dgm:cxn modelId="{7356A674-D78D-46AF-9550-4BE65B110651}" type="presParOf" srcId="{4A9908F5-B126-4D48-9AD8-056E57DC4363}" destId="{41A63078-87BF-446C-8772-9F40254756BC}" srcOrd="0" destOrd="0" presId="urn:microsoft.com/office/officeart/2018/2/layout/IconVerticalSolidList"/>
    <dgm:cxn modelId="{16E20372-D544-4E0C-B48C-7FC1593CAAAB}" type="presParOf" srcId="{41A63078-87BF-446C-8772-9F40254756BC}" destId="{7B8C7AE2-408B-4208-BA8B-07C3E4E390AF}" srcOrd="0" destOrd="0" presId="urn:microsoft.com/office/officeart/2018/2/layout/IconVerticalSolidList"/>
    <dgm:cxn modelId="{1BBA7258-3B1E-4806-A97E-50A441540D2C}" type="presParOf" srcId="{41A63078-87BF-446C-8772-9F40254756BC}" destId="{DA7AA332-0AE7-404D-97BB-5AE2F1C2C9F8}" srcOrd="1" destOrd="0" presId="urn:microsoft.com/office/officeart/2018/2/layout/IconVerticalSolidList"/>
    <dgm:cxn modelId="{321928BE-B778-4E58-B591-3E6034875E9F}" type="presParOf" srcId="{41A63078-87BF-446C-8772-9F40254756BC}" destId="{A34E1448-C5E1-430E-8756-3FA328521B18}" srcOrd="2" destOrd="0" presId="urn:microsoft.com/office/officeart/2018/2/layout/IconVerticalSolidList"/>
    <dgm:cxn modelId="{0702DAB8-1798-4519-8E68-D07949460B79}" type="presParOf" srcId="{41A63078-87BF-446C-8772-9F40254756BC}" destId="{3D730150-430A-4659-8B93-D675E935E9EA}" srcOrd="3" destOrd="0" presId="urn:microsoft.com/office/officeart/2018/2/layout/IconVerticalSolidList"/>
    <dgm:cxn modelId="{0AB50E3E-04EA-4DCE-BF87-13C281BB7554}" type="presParOf" srcId="{4A9908F5-B126-4D48-9AD8-056E57DC4363}" destId="{CEA3BB71-97DF-4119-AA75-23178DAEA06D}" srcOrd="1" destOrd="0" presId="urn:microsoft.com/office/officeart/2018/2/layout/IconVerticalSolidList"/>
    <dgm:cxn modelId="{43C37C3C-79E1-4054-A607-01BBDE6B37AC}" type="presParOf" srcId="{4A9908F5-B126-4D48-9AD8-056E57DC4363}" destId="{1D16CDE0-90D2-4982-B525-8E3CD1DDA757}" srcOrd="2" destOrd="0" presId="urn:microsoft.com/office/officeart/2018/2/layout/IconVerticalSolidList"/>
    <dgm:cxn modelId="{BF4BB52D-F00F-450D-A7E4-E3B234464814}" type="presParOf" srcId="{1D16CDE0-90D2-4982-B525-8E3CD1DDA757}" destId="{275993C6-CC59-47BE-B4DA-4F138FC85F27}" srcOrd="0" destOrd="0" presId="urn:microsoft.com/office/officeart/2018/2/layout/IconVerticalSolidList"/>
    <dgm:cxn modelId="{E31E18F7-2ADA-4D14-9CEB-BA1D07B26308}" type="presParOf" srcId="{1D16CDE0-90D2-4982-B525-8E3CD1DDA757}" destId="{1E4D91C0-7421-4034-A61D-BAA4A1E0CB83}" srcOrd="1" destOrd="0" presId="urn:microsoft.com/office/officeart/2018/2/layout/IconVerticalSolidList"/>
    <dgm:cxn modelId="{4FE33C84-BB74-41E1-9A80-F8CD4FE6C924}" type="presParOf" srcId="{1D16CDE0-90D2-4982-B525-8E3CD1DDA757}" destId="{A95D9CE6-CCCE-4916-BAFD-1162C5C653AE}" srcOrd="2" destOrd="0" presId="urn:microsoft.com/office/officeart/2018/2/layout/IconVerticalSolidList"/>
    <dgm:cxn modelId="{E0EE69C4-D4E0-4E1F-BB87-E0EE2DA871FA}" type="presParOf" srcId="{1D16CDE0-90D2-4982-B525-8E3CD1DDA757}" destId="{46778FB1-E527-4D7D-87FD-05B1F8088E18}" srcOrd="3" destOrd="0" presId="urn:microsoft.com/office/officeart/2018/2/layout/IconVerticalSolidList"/>
    <dgm:cxn modelId="{0DDB21D5-F87D-4D0C-9F6E-B41714FC4140}" type="presParOf" srcId="{4A9908F5-B126-4D48-9AD8-056E57DC4363}" destId="{7E21865A-5820-41B9-B8BC-2EC808D6D533}" srcOrd="3" destOrd="0" presId="urn:microsoft.com/office/officeart/2018/2/layout/IconVerticalSolidList"/>
    <dgm:cxn modelId="{97253F7E-CE24-47BE-B14A-8478EEF17D67}" type="presParOf" srcId="{4A9908F5-B126-4D48-9AD8-056E57DC4363}" destId="{C7BC8819-58E9-41B0-8765-CFC75C5167E4}" srcOrd="4" destOrd="0" presId="urn:microsoft.com/office/officeart/2018/2/layout/IconVerticalSolidList"/>
    <dgm:cxn modelId="{0A475CD7-B32E-4C03-9557-C52DA54A303A}" type="presParOf" srcId="{C7BC8819-58E9-41B0-8765-CFC75C5167E4}" destId="{6FEBE368-65E8-4B9F-BFE6-DB29FCBB55C2}" srcOrd="0" destOrd="0" presId="urn:microsoft.com/office/officeart/2018/2/layout/IconVerticalSolidList"/>
    <dgm:cxn modelId="{D7FEAE5E-16AB-4259-8382-C62E5CAE2B57}" type="presParOf" srcId="{C7BC8819-58E9-41B0-8765-CFC75C5167E4}" destId="{86930D5C-DF13-488D-A8C8-253B38250608}" srcOrd="1" destOrd="0" presId="urn:microsoft.com/office/officeart/2018/2/layout/IconVerticalSolidList"/>
    <dgm:cxn modelId="{28705908-F7CE-403E-A99E-798A50EE28E8}" type="presParOf" srcId="{C7BC8819-58E9-41B0-8765-CFC75C5167E4}" destId="{972B42BF-D57A-4408-B887-6D5B6F97FE9D}" srcOrd="2" destOrd="0" presId="urn:microsoft.com/office/officeart/2018/2/layout/IconVerticalSolidList"/>
    <dgm:cxn modelId="{71B5A5CE-C5E6-4293-BED0-0F69E6815927}" type="presParOf" srcId="{C7BC8819-58E9-41B0-8765-CFC75C5167E4}" destId="{4F7EA1FD-35C0-4529-88A7-927B930974CC}" srcOrd="3" destOrd="0" presId="urn:microsoft.com/office/officeart/2018/2/layout/IconVerticalSolidList"/>
    <dgm:cxn modelId="{1DA4E250-4CED-45D7-AE60-B9407CB9E25C}" type="presParOf" srcId="{4A9908F5-B126-4D48-9AD8-056E57DC4363}" destId="{3FAFFD00-01A1-4587-B4A2-447158DE1111}" srcOrd="5" destOrd="0" presId="urn:microsoft.com/office/officeart/2018/2/layout/IconVerticalSolidList"/>
    <dgm:cxn modelId="{D39E9A65-1351-4F10-9D01-42A60CC208A4}" type="presParOf" srcId="{4A9908F5-B126-4D48-9AD8-056E57DC4363}" destId="{AD9EC7E9-7900-431C-8725-FCDD53124381}" srcOrd="6" destOrd="0" presId="urn:microsoft.com/office/officeart/2018/2/layout/IconVerticalSolidList"/>
    <dgm:cxn modelId="{FD26ABBD-E982-44B5-9F85-B7F33917F527}" type="presParOf" srcId="{AD9EC7E9-7900-431C-8725-FCDD53124381}" destId="{15129163-5997-47EE-9084-A694CC32B421}" srcOrd="0" destOrd="0" presId="urn:microsoft.com/office/officeart/2018/2/layout/IconVerticalSolidList"/>
    <dgm:cxn modelId="{CF895CCD-5C1F-40B1-AD64-63FF2DF68B53}" type="presParOf" srcId="{AD9EC7E9-7900-431C-8725-FCDD53124381}" destId="{C4DB1F9A-ACE4-4040-8A07-2679EB2A6601}" srcOrd="1" destOrd="0" presId="urn:microsoft.com/office/officeart/2018/2/layout/IconVerticalSolidList"/>
    <dgm:cxn modelId="{EA41EEAC-5FC8-46D5-8337-E9697ED98E46}" type="presParOf" srcId="{AD9EC7E9-7900-431C-8725-FCDD53124381}" destId="{4F243BEF-42CE-449A-B2AF-E2AAE7696E1F}" srcOrd="2" destOrd="0" presId="urn:microsoft.com/office/officeart/2018/2/layout/IconVerticalSolidList"/>
    <dgm:cxn modelId="{8F282BCB-3138-45C0-AC50-E39396EC832B}" type="presParOf" srcId="{AD9EC7E9-7900-431C-8725-FCDD53124381}" destId="{AC4C18E3-3D6D-4EC8-8279-4953622ABEB3}" srcOrd="3" destOrd="0" presId="urn:microsoft.com/office/officeart/2018/2/layout/IconVerticalSolidList"/>
    <dgm:cxn modelId="{FA4D272E-D88E-4C2B-9605-6756353F80FD}" type="presParOf" srcId="{4A9908F5-B126-4D48-9AD8-056E57DC4363}" destId="{03DFD3A0-450C-426D-A042-4267F7FDDA6D}" srcOrd="7" destOrd="0" presId="urn:microsoft.com/office/officeart/2018/2/layout/IconVerticalSolidList"/>
    <dgm:cxn modelId="{7F8F1BEC-AE15-4627-9457-F5EF4A6E16B5}" type="presParOf" srcId="{4A9908F5-B126-4D48-9AD8-056E57DC4363}" destId="{28756C91-A105-4138-88E3-C129CF9FE5FD}" srcOrd="8" destOrd="0" presId="urn:microsoft.com/office/officeart/2018/2/layout/IconVerticalSolidList"/>
    <dgm:cxn modelId="{BD9FE8D3-AEC5-41CD-962C-B42B6AD798CB}" type="presParOf" srcId="{28756C91-A105-4138-88E3-C129CF9FE5FD}" destId="{62AEFD66-9F0A-4B31-9349-CDF4B1ACF1C7}" srcOrd="0" destOrd="0" presId="urn:microsoft.com/office/officeart/2018/2/layout/IconVerticalSolidList"/>
    <dgm:cxn modelId="{F75BA308-C9C1-4D8D-A5EF-66E760FE0726}" type="presParOf" srcId="{28756C91-A105-4138-88E3-C129CF9FE5FD}" destId="{A7303DB4-028A-40B4-82B5-CD7FC3D0F1DC}" srcOrd="1" destOrd="0" presId="urn:microsoft.com/office/officeart/2018/2/layout/IconVerticalSolidList"/>
    <dgm:cxn modelId="{0742B846-791F-4424-A28C-D95246E3D5C6}" type="presParOf" srcId="{28756C91-A105-4138-88E3-C129CF9FE5FD}" destId="{F2635678-21EB-4E40-8E34-52FCB82DA0FE}" srcOrd="2" destOrd="0" presId="urn:microsoft.com/office/officeart/2018/2/layout/IconVerticalSolidList"/>
    <dgm:cxn modelId="{B9D2B338-F035-4209-8FD3-695B9BE07409}" type="presParOf" srcId="{28756C91-A105-4138-88E3-C129CF9FE5FD}" destId="{E1449741-D5C1-42C3-B670-9C33B9FC7BC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8C7AE2-408B-4208-BA8B-07C3E4E390AF}">
      <dsp:nvSpPr>
        <dsp:cNvPr id="0" name=""/>
        <dsp:cNvSpPr/>
      </dsp:nvSpPr>
      <dsp:spPr>
        <a:xfrm>
          <a:off x="0" y="3"/>
          <a:ext cx="4114800" cy="684728"/>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DA7AA332-0AE7-404D-97BB-5AE2F1C2C9F8}">
      <dsp:nvSpPr>
        <dsp:cNvPr id="0" name=""/>
        <dsp:cNvSpPr/>
      </dsp:nvSpPr>
      <dsp:spPr>
        <a:xfrm>
          <a:off x="207130" y="157278"/>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D730150-430A-4659-8B93-D675E935E9EA}">
      <dsp:nvSpPr>
        <dsp:cNvPr id="0" name=""/>
        <dsp:cNvSpPr/>
      </dsp:nvSpPr>
      <dsp:spPr>
        <a:xfrm>
          <a:off x="790861" y="3214"/>
          <a:ext cx="332393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dirty="0"/>
            <a:t>Imported core Python libraries</a:t>
          </a:r>
        </a:p>
      </dsp:txBody>
      <dsp:txXfrm>
        <a:off x="790861" y="3214"/>
        <a:ext cx="3323938" cy="684728"/>
      </dsp:txXfrm>
    </dsp:sp>
    <dsp:sp modelId="{275993C6-CC59-47BE-B4DA-4F138FC85F27}">
      <dsp:nvSpPr>
        <dsp:cNvPr id="0" name=""/>
        <dsp:cNvSpPr/>
      </dsp:nvSpPr>
      <dsp:spPr>
        <a:xfrm>
          <a:off x="0" y="859125"/>
          <a:ext cx="4114800" cy="684728"/>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1E4D91C0-7421-4034-A61D-BAA4A1E0CB83}">
      <dsp:nvSpPr>
        <dsp:cNvPr id="0" name=""/>
        <dsp:cNvSpPr/>
      </dsp:nvSpPr>
      <dsp:spPr>
        <a:xfrm>
          <a:off x="207130" y="1013189"/>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778FB1-E527-4D7D-87FD-05B1F8088E18}">
      <dsp:nvSpPr>
        <dsp:cNvPr id="0" name=""/>
        <dsp:cNvSpPr/>
      </dsp:nvSpPr>
      <dsp:spPr>
        <a:xfrm>
          <a:off x="790861" y="859125"/>
          <a:ext cx="332393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a:t>Built a class for data organization</a:t>
          </a:r>
        </a:p>
      </dsp:txBody>
      <dsp:txXfrm>
        <a:off x="790861" y="859125"/>
        <a:ext cx="3323938" cy="684728"/>
      </dsp:txXfrm>
    </dsp:sp>
    <dsp:sp modelId="{6FEBE368-65E8-4B9F-BFE6-DB29FCBB55C2}">
      <dsp:nvSpPr>
        <dsp:cNvPr id="0" name=""/>
        <dsp:cNvSpPr/>
      </dsp:nvSpPr>
      <dsp:spPr>
        <a:xfrm>
          <a:off x="0" y="1715035"/>
          <a:ext cx="4114800" cy="684728"/>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86930D5C-DF13-488D-A8C8-253B38250608}">
      <dsp:nvSpPr>
        <dsp:cNvPr id="0" name=""/>
        <dsp:cNvSpPr/>
      </dsp:nvSpPr>
      <dsp:spPr>
        <a:xfrm>
          <a:off x="207130" y="1869099"/>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F7EA1FD-35C0-4529-88A7-927B930974CC}">
      <dsp:nvSpPr>
        <dsp:cNvPr id="0" name=""/>
        <dsp:cNvSpPr/>
      </dsp:nvSpPr>
      <dsp:spPr>
        <a:xfrm>
          <a:off x="790861" y="1715035"/>
          <a:ext cx="332393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dirty="0"/>
            <a:t>Loaded datasets using pandas (</a:t>
          </a:r>
          <a:r>
            <a:rPr lang="en-US" sz="1700" kern="1200" dirty="0" err="1"/>
            <a:t>pd.read_csv</a:t>
          </a:r>
          <a:r>
            <a:rPr lang="en-US" sz="1700" kern="1200" dirty="0"/>
            <a:t>)</a:t>
          </a:r>
        </a:p>
      </dsp:txBody>
      <dsp:txXfrm>
        <a:off x="790861" y="1715035"/>
        <a:ext cx="3323938" cy="684728"/>
      </dsp:txXfrm>
    </dsp:sp>
    <dsp:sp modelId="{15129163-5997-47EE-9084-A694CC32B421}">
      <dsp:nvSpPr>
        <dsp:cNvPr id="0" name=""/>
        <dsp:cNvSpPr/>
      </dsp:nvSpPr>
      <dsp:spPr>
        <a:xfrm>
          <a:off x="0" y="2570946"/>
          <a:ext cx="4114800" cy="684728"/>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C4DB1F9A-ACE4-4040-8A07-2679EB2A6601}">
      <dsp:nvSpPr>
        <dsp:cNvPr id="0" name=""/>
        <dsp:cNvSpPr/>
      </dsp:nvSpPr>
      <dsp:spPr>
        <a:xfrm>
          <a:off x="207130" y="2725010"/>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4C18E3-3D6D-4EC8-8279-4953622ABEB3}">
      <dsp:nvSpPr>
        <dsp:cNvPr id="0" name=""/>
        <dsp:cNvSpPr/>
      </dsp:nvSpPr>
      <dsp:spPr>
        <a:xfrm>
          <a:off x="790861" y="2570946"/>
          <a:ext cx="332393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dirty="0"/>
            <a:t>Created methods to preview data and display info</a:t>
          </a:r>
        </a:p>
      </dsp:txBody>
      <dsp:txXfrm>
        <a:off x="790861" y="2570946"/>
        <a:ext cx="3323938" cy="684728"/>
      </dsp:txXfrm>
    </dsp:sp>
    <dsp:sp modelId="{62AEFD66-9F0A-4B31-9349-CDF4B1ACF1C7}">
      <dsp:nvSpPr>
        <dsp:cNvPr id="0" name=""/>
        <dsp:cNvSpPr/>
      </dsp:nvSpPr>
      <dsp:spPr>
        <a:xfrm>
          <a:off x="0" y="3426856"/>
          <a:ext cx="4114800" cy="684728"/>
        </a:xfrm>
        <a:prstGeom prst="roundRect">
          <a:avLst>
            <a:gd name="adj" fmla="val 10000"/>
          </a:avLst>
        </a:prstGeom>
        <a:solidFill>
          <a:schemeClr val="bg1">
            <a:lumMod val="85000"/>
          </a:schemeClr>
        </a:solidFill>
        <a:ln>
          <a:noFill/>
        </a:ln>
        <a:effectLst/>
      </dsp:spPr>
      <dsp:style>
        <a:lnRef idx="0">
          <a:scrgbClr r="0" g="0" b="0"/>
        </a:lnRef>
        <a:fillRef idx="1">
          <a:scrgbClr r="0" g="0" b="0"/>
        </a:fillRef>
        <a:effectRef idx="0">
          <a:scrgbClr r="0" g="0" b="0"/>
        </a:effectRef>
        <a:fontRef idx="minor"/>
      </dsp:style>
    </dsp:sp>
    <dsp:sp modelId="{A7303DB4-028A-40B4-82B5-CD7FC3D0F1DC}">
      <dsp:nvSpPr>
        <dsp:cNvPr id="0" name=""/>
        <dsp:cNvSpPr/>
      </dsp:nvSpPr>
      <dsp:spPr>
        <a:xfrm>
          <a:off x="207130" y="3580920"/>
          <a:ext cx="376600" cy="3766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49741-D5C1-42C3-B670-9C33B9FC7BCB}">
      <dsp:nvSpPr>
        <dsp:cNvPr id="0" name=""/>
        <dsp:cNvSpPr/>
      </dsp:nvSpPr>
      <dsp:spPr>
        <a:xfrm>
          <a:off x="790861" y="3426856"/>
          <a:ext cx="3323938" cy="6847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467" tIns="72467" rIns="72467" bIns="72467" numCol="1" spcCol="1270" anchor="ctr" anchorCtr="0">
          <a:noAutofit/>
        </a:bodyPr>
        <a:lstStyle/>
        <a:p>
          <a:pPr marL="0" lvl="0" indent="0" algn="l" defTabSz="755650">
            <a:lnSpc>
              <a:spcPct val="100000"/>
            </a:lnSpc>
            <a:spcBef>
              <a:spcPct val="0"/>
            </a:spcBef>
            <a:spcAft>
              <a:spcPct val="35000"/>
            </a:spcAft>
            <a:buNone/>
          </a:pPr>
          <a:r>
            <a:rPr lang="en-US" sz="1700" kern="1200" dirty="0"/>
            <a:t>Instantiated class and executed methods</a:t>
          </a:r>
        </a:p>
      </dsp:txBody>
      <dsp:txXfrm>
        <a:off x="790861" y="3426856"/>
        <a:ext cx="3323938" cy="68472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D43687-C57C-437F-8ED1-3950E038796F}" type="datetimeFigureOut">
              <a:t>5/28/2026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09E7C7-6A1F-4BCA-8353-2AF1C3213AFB}" type="slidenum">
              <a:t>‹#›</a:t>
            </a:fld>
            <a:endParaRPr lang="en-US"/>
          </a:p>
        </p:txBody>
      </p:sp>
    </p:spTree>
    <p:extLst>
      <p:ext uri="{BB962C8B-B14F-4D97-AF65-F5344CB8AC3E}">
        <p14:creationId xmlns:p14="http://schemas.microsoft.com/office/powerpoint/2010/main" val="207242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a:t>
            </a:r>
          </a:p>
        </p:txBody>
      </p:sp>
      <p:sp>
        <p:nvSpPr>
          <p:cNvPr id="4" name="Slide Number Placeholder 3"/>
          <p:cNvSpPr>
            <a:spLocks noGrp="1"/>
          </p:cNvSpPr>
          <p:nvPr>
            <p:ph type="sldNum" sz="quarter" idx="5"/>
          </p:nvPr>
        </p:nvSpPr>
        <p:spPr/>
        <p:txBody>
          <a:bodyPr/>
          <a:lstStyle/>
          <a:p>
            <a:fld id="{8BD8D037-E105-4D60-82D6-4F1E791B7B9D}" type="slidenum">
              <a:t>1</a:t>
            </a:fld>
            <a:endParaRPr lang="en-US"/>
          </a:p>
        </p:txBody>
      </p:sp>
    </p:spTree>
    <p:extLst>
      <p:ext uri="{BB962C8B-B14F-4D97-AF65-F5344CB8AC3E}">
        <p14:creationId xmlns:p14="http://schemas.microsoft.com/office/powerpoint/2010/main" val="1616297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D8D037-E105-4D60-82D6-4F1E791B7B9D}" type="slidenum">
              <a:t>2</a:t>
            </a:fld>
            <a:endParaRPr lang="en-US"/>
          </a:p>
        </p:txBody>
      </p:sp>
    </p:spTree>
    <p:extLst>
      <p:ext uri="{BB962C8B-B14F-4D97-AF65-F5344CB8AC3E}">
        <p14:creationId xmlns:p14="http://schemas.microsoft.com/office/powerpoint/2010/main" val="37751789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For this project, I used the business questions on the screen to analyze sales performance, customer activity, store rankings, and product trends for the Colorado and South Carolina sales territories. I used Python and libraries such as Pandas, NumPy, and Matplotlib in </a:t>
            </a:r>
            <a:r>
              <a:rPr lang="en-US" dirty="0" err="1"/>
              <a:t>Jupyter</a:t>
            </a:r>
            <a:r>
              <a:rPr lang="en-US" dirty="0"/>
              <a:t> Notebook to organize, clean, and analyze the data. For this presentation, I will answer each business question to produce meaningful insights that can support future business decisions.</a:t>
            </a:r>
          </a:p>
          <a:p>
            <a:endParaRPr lang="en-US" dirty="0"/>
          </a:p>
        </p:txBody>
      </p:sp>
      <p:sp>
        <p:nvSpPr>
          <p:cNvPr id="4" name="Slide Number Placeholder 3"/>
          <p:cNvSpPr>
            <a:spLocks noGrp="1"/>
          </p:cNvSpPr>
          <p:nvPr>
            <p:ph type="sldNum" sz="quarter" idx="5"/>
          </p:nvPr>
        </p:nvSpPr>
        <p:spPr/>
        <p:txBody>
          <a:bodyPr/>
          <a:lstStyle/>
          <a:p>
            <a:fld id="{8BD8D037-E105-4D60-82D6-4F1E791B7B9D}" type="slidenum">
              <a:t>3</a:t>
            </a:fld>
            <a:endParaRPr lang="en-US"/>
          </a:p>
        </p:txBody>
      </p:sp>
    </p:spTree>
    <p:extLst>
      <p:ext uri="{BB962C8B-B14F-4D97-AF65-F5344CB8AC3E}">
        <p14:creationId xmlns:p14="http://schemas.microsoft.com/office/powerpoint/2010/main" val="13021394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of the capstone project demonstrates how I used </a:t>
            </a:r>
            <a:r>
              <a:rPr lang="en-US" dirty="0" err="1"/>
              <a:t>Jupyter</a:t>
            </a:r>
            <a:r>
              <a:rPr lang="en-US" dirty="0"/>
              <a:t> Notebook to import three important Python libraries: NumPy for numerical operations, Pandas for data analysis and working with </a:t>
            </a:r>
            <a:r>
              <a:rPr lang="en-US" dirty="0" err="1"/>
              <a:t>dataframes</a:t>
            </a:r>
            <a:r>
              <a:rPr lang="en-US" dirty="0"/>
              <a:t>, and Matplotlib for creating charts and visualizations.</a:t>
            </a:r>
          </a:p>
          <a:p>
            <a:endParaRPr lang="en-US" dirty="0"/>
          </a:p>
          <a:p>
            <a:r>
              <a:rPr lang="en-US" dirty="0"/>
              <a:t>To keep the project organized, I created a Python class called </a:t>
            </a:r>
            <a:r>
              <a:rPr lang="en-US" sz="1200" kern="1200" dirty="0" err="1">
                <a:solidFill>
                  <a:schemeClr val="tx1"/>
                </a:solidFill>
                <a:latin typeface="+mn-lt"/>
                <a:ea typeface="+mn-ea"/>
                <a:cs typeface="+mn-cs"/>
              </a:rPr>
              <a:t>EmpAnalysis</a:t>
            </a:r>
            <a:r>
              <a:rPr lang="en-US" dirty="0"/>
              <a:t>. Using a class allows all datasets, methods, and analysis tools to be stored inside one structured project object rather than scattered throughout the notebook. The </a:t>
            </a:r>
            <a:r>
              <a:rPr lang="en-US" sz="1200" kern="1200" dirty="0">
                <a:solidFill>
                  <a:schemeClr val="tx1"/>
                </a:solidFill>
                <a:latin typeface="+mn-lt"/>
                <a:ea typeface="+mn-ea"/>
                <a:cs typeface="+mn-cs"/>
              </a:rPr>
              <a:t>__</a:t>
            </a:r>
            <a:r>
              <a:rPr lang="en-US" sz="1200" kern="1200" dirty="0" err="1">
                <a:solidFill>
                  <a:schemeClr val="tx1"/>
                </a:solidFill>
                <a:latin typeface="+mn-lt"/>
                <a:ea typeface="+mn-ea"/>
                <a:cs typeface="+mn-cs"/>
              </a:rPr>
              <a:t>init</a:t>
            </a:r>
            <a:r>
              <a:rPr lang="en-US" sz="1200" kern="1200" dirty="0">
                <a:solidFill>
                  <a:schemeClr val="tx1"/>
                </a:solidFill>
                <a:latin typeface="+mn-lt"/>
                <a:ea typeface="+mn-ea"/>
                <a:cs typeface="+mn-cs"/>
              </a:rPr>
              <a:t>__</a:t>
            </a:r>
            <a:r>
              <a:rPr lang="en-US" dirty="0"/>
              <a:t> constructor method automatically loads all CSV files when an object is created, while additional methods such as </a:t>
            </a:r>
            <a:r>
              <a:rPr lang="en-US" sz="1200" kern="1200" dirty="0" err="1">
                <a:solidFill>
                  <a:schemeClr val="tx1"/>
                </a:solidFill>
                <a:latin typeface="+mn-lt"/>
                <a:ea typeface="+mn-ea"/>
                <a:cs typeface="+mn-cs"/>
              </a:rPr>
              <a:t>preview_data</a:t>
            </a:r>
            <a:r>
              <a:rPr lang="en-US" sz="1200" kern="1200" dirty="0">
                <a:solidFill>
                  <a:schemeClr val="tx1"/>
                </a:solidFill>
                <a:latin typeface="+mn-lt"/>
                <a:ea typeface="+mn-ea"/>
                <a:cs typeface="+mn-cs"/>
              </a:rPr>
              <a:t>()</a:t>
            </a:r>
            <a:r>
              <a:rPr lang="en-US" dirty="0"/>
              <a:t> and </a:t>
            </a:r>
            <a:r>
              <a:rPr lang="en-US" sz="1200" kern="1200" dirty="0" err="1">
                <a:solidFill>
                  <a:schemeClr val="tx1"/>
                </a:solidFill>
                <a:latin typeface="+mn-lt"/>
                <a:ea typeface="+mn-ea"/>
                <a:cs typeface="+mn-cs"/>
              </a:rPr>
              <a:t>tableinfo</a:t>
            </a:r>
            <a:r>
              <a:rPr lang="en-US" sz="1200" kern="1200" dirty="0">
                <a:solidFill>
                  <a:schemeClr val="tx1"/>
                </a:solidFill>
                <a:latin typeface="+mn-lt"/>
                <a:ea typeface="+mn-ea"/>
                <a:cs typeface="+mn-cs"/>
              </a:rPr>
              <a:t>()</a:t>
            </a:r>
            <a:r>
              <a:rPr lang="en-US" dirty="0"/>
              <a:t> allow me to quickly review and inspect the datasets throughout the project.</a:t>
            </a:r>
          </a:p>
          <a:p>
            <a:endParaRPr lang="en-US" dirty="0"/>
          </a:p>
        </p:txBody>
      </p:sp>
      <p:sp>
        <p:nvSpPr>
          <p:cNvPr id="4" name="Slide Number Placeholder 3"/>
          <p:cNvSpPr>
            <a:spLocks noGrp="1"/>
          </p:cNvSpPr>
          <p:nvPr>
            <p:ph type="sldNum" sz="quarter" idx="5"/>
          </p:nvPr>
        </p:nvSpPr>
        <p:spPr/>
        <p:txBody>
          <a:bodyPr/>
          <a:lstStyle/>
          <a:p>
            <a:fld id="{D009E7C7-6A1F-4BCA-8353-2AF1C3213AFB}" type="slidenum">
              <a:rPr lang="en-US" smtClean="0"/>
              <a:t>4</a:t>
            </a:fld>
            <a:endParaRPr lang="en-US"/>
          </a:p>
        </p:txBody>
      </p:sp>
    </p:spTree>
    <p:extLst>
      <p:ext uri="{BB962C8B-B14F-4D97-AF65-F5344CB8AC3E}">
        <p14:creationId xmlns:p14="http://schemas.microsoft.com/office/powerpoint/2010/main" val="2276074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I got my results. First, I filtered the Store Details dataset to include only my assigned territories, Colorado and South Carolina. I then selected the State, Territory Manager, Store ID, and Store Location columns and used a for loop to display the territory manager, store ID, and city for each store in the assigned territories.</a:t>
            </a:r>
          </a:p>
          <a:p>
            <a:endParaRPr lang="en-US" dirty="0"/>
          </a:p>
        </p:txBody>
      </p:sp>
      <p:sp>
        <p:nvSpPr>
          <p:cNvPr id="4" name="Slide Number Placeholder 3"/>
          <p:cNvSpPr>
            <a:spLocks noGrp="1"/>
          </p:cNvSpPr>
          <p:nvPr>
            <p:ph type="sldNum" sz="quarter" idx="5"/>
          </p:nvPr>
        </p:nvSpPr>
        <p:spPr/>
        <p:txBody>
          <a:bodyPr/>
          <a:lstStyle/>
          <a:p>
            <a:fld id="{8BD8D037-E105-4D60-82D6-4F1E791B7B9D}" type="slidenum">
              <a:t>5</a:t>
            </a:fld>
            <a:endParaRPr lang="en-US"/>
          </a:p>
        </p:txBody>
      </p:sp>
    </p:spTree>
    <p:extLst>
      <p:ext uri="{BB962C8B-B14F-4D97-AF65-F5344CB8AC3E}">
        <p14:creationId xmlns:p14="http://schemas.microsoft.com/office/powerpoint/2010/main" val="3138147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90574-82DB-5AD0-01DB-3461B3B446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FB77-C71B-03A2-F5B0-998D3D7C9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50890D-2891-7E5E-80C2-5818EFB220E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I got my results. I merged the Store Details and Store Sales </a:t>
            </a:r>
            <a:r>
              <a:rPr lang="en-US" dirty="0" err="1"/>
              <a:t>dataframes</a:t>
            </a:r>
            <a:r>
              <a:rPr lang="en-US" dirty="0"/>
              <a:t> using the Store ID column so that sales transactions could be connected to their corresponding sales territories. I then converted the transaction dates into month and year values, filtered the data to include only Colorado and South Carolina, and grouped the sales data by year, month, and territory. Finally, I calculated the total revenue for each month using the Sale Amount field, allowing me to compare monthly revenue for both territories between 2022  and 2025.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A0F587B-A183-FC6D-5463-011A107C7AAF}"/>
              </a:ext>
            </a:extLst>
          </p:cNvPr>
          <p:cNvSpPr>
            <a:spLocks noGrp="1"/>
          </p:cNvSpPr>
          <p:nvPr>
            <p:ph type="sldNum" sz="quarter" idx="5"/>
          </p:nvPr>
        </p:nvSpPr>
        <p:spPr/>
        <p:txBody>
          <a:bodyPr/>
          <a:lstStyle/>
          <a:p>
            <a:fld id="{8BD8D037-E105-4D60-82D6-4F1E791B7B9D}" type="slidenum">
              <a:t>6</a:t>
            </a:fld>
            <a:endParaRPr lang="en-US"/>
          </a:p>
        </p:txBody>
      </p:sp>
    </p:spTree>
    <p:extLst>
      <p:ext uri="{BB962C8B-B14F-4D97-AF65-F5344CB8AC3E}">
        <p14:creationId xmlns:p14="http://schemas.microsoft.com/office/powerpoint/2010/main" val="1040984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A8779-2DA2-6E12-FC32-7819AE1203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23B2C-674F-7C23-323E-49B92DB7BF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B5912-3E5A-907C-0FA9-FD447480EA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I got my results, I merged the Store Details and Store Sales datasets using the Store ID field so that each sales transaction could be connected to its corresponding store and sales territory. I then filtered the data to include only my assigned territories, Colorado and South Carolina, and grouped the sales records by state, store ID, and store location. Using the Sale Amount field, I calculated the total revenue generated by each store and sorted the results from highest to lowest revenue to create a performance ranking. Finally, I used a for loop to iterate through each ranked store and enumerate() to automatically assign a ranking number starting at one, allowing me to display the stores in order of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9919891-B0F0-CA32-CA4F-D9EF39E83447}"/>
              </a:ext>
            </a:extLst>
          </p:cNvPr>
          <p:cNvSpPr>
            <a:spLocks noGrp="1"/>
          </p:cNvSpPr>
          <p:nvPr>
            <p:ph type="sldNum" sz="quarter" idx="5"/>
          </p:nvPr>
        </p:nvSpPr>
        <p:spPr/>
        <p:txBody>
          <a:bodyPr/>
          <a:lstStyle/>
          <a:p>
            <a:fld id="{8BD8D037-E105-4D60-82D6-4F1E791B7B9D}" type="slidenum">
              <a:t>7</a:t>
            </a:fld>
            <a:endParaRPr lang="en-US"/>
          </a:p>
        </p:txBody>
      </p:sp>
    </p:spTree>
    <p:extLst>
      <p:ext uri="{BB962C8B-B14F-4D97-AF65-F5344CB8AC3E}">
        <p14:creationId xmlns:p14="http://schemas.microsoft.com/office/powerpoint/2010/main" val="152246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F4604-487E-D238-0604-0DC0A6EDF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E4C49-37C7-4DC5-3261-5C1461CFB0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C4D33-B452-0068-1792-F5EF21D775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How I got my results, I merged the Store Details and Store Sales datasets using the Store ID field so that each sales transaction could be connected to its corresponding store and sales territory. I then filtered the data to include only my assigned territories, Colorado and South Carolina, and grouped the sales records by state, store ID, and store location. Using the Sale Amount field, I calculated the total revenue generated by each store and sorted the results from highest to lowest revenue to create a performance ranking. Finally, I used a for loop to iterate through each ranked store and enumerate() to automatically assign a ranking number starting at one, allowing me to display the stores in order of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9221FA8-7DA7-BE36-030F-E06BFA283187}"/>
              </a:ext>
            </a:extLst>
          </p:cNvPr>
          <p:cNvSpPr>
            <a:spLocks noGrp="1"/>
          </p:cNvSpPr>
          <p:nvPr>
            <p:ph type="sldNum" sz="quarter" idx="5"/>
          </p:nvPr>
        </p:nvSpPr>
        <p:spPr/>
        <p:txBody>
          <a:bodyPr/>
          <a:lstStyle/>
          <a:p>
            <a:fld id="{8BD8D037-E105-4D60-82D6-4F1E791B7B9D}" type="slidenum">
              <a:t>8</a:t>
            </a:fld>
            <a:endParaRPr lang="en-US"/>
          </a:p>
        </p:txBody>
      </p:sp>
    </p:spTree>
    <p:extLst>
      <p:ext uri="{BB962C8B-B14F-4D97-AF65-F5344CB8AC3E}">
        <p14:creationId xmlns:p14="http://schemas.microsoft.com/office/powerpoint/2010/main" val="4622034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96680-0A5B-E85E-47BD-59654942C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4B98A-0E77-82AE-046C-2A6504D2F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75BA3C-753A-3537-9689-941EF08A8D35}"/>
              </a:ext>
            </a:extLst>
          </p:cNvPr>
          <p:cNvSpPr>
            <a:spLocks noGrp="1"/>
          </p:cNvSpPr>
          <p:nvPr>
            <p:ph type="body" idx="1"/>
          </p:nvPr>
        </p:nvSpPr>
        <p:spPr/>
        <p:txBody>
          <a:bodyPr/>
          <a:lstStyle/>
          <a:p>
            <a:r>
              <a:rPr lang="en-US" dirty="0"/>
              <a:t>
How I got my results, I first converted the transaction dates into month and year values so the sales data could be analyzed over time. I then used a series of </a:t>
            </a:r>
            <a:r>
              <a:rPr lang="en-US" sz="1200" kern="1200" dirty="0" err="1">
                <a:solidFill>
                  <a:schemeClr val="tx1"/>
                </a:solidFill>
                <a:latin typeface="+mn-lt"/>
                <a:ea typeface="+mn-ea"/>
                <a:cs typeface="+mn-cs"/>
              </a:rPr>
              <a:t>pd.merge</a:t>
            </a:r>
            <a:r>
              <a:rPr lang="en-US" sz="1200" kern="1200" dirty="0">
                <a:solidFill>
                  <a:schemeClr val="tx1"/>
                </a:solidFill>
                <a:latin typeface="+mn-lt"/>
                <a:ea typeface="+mn-ea"/>
                <a:cs typeface="+mn-cs"/>
              </a:rPr>
              <a:t>()</a:t>
            </a:r>
            <a:r>
              <a:rPr lang="en-US" dirty="0"/>
              <a:t> methods to combine the sales, product, product category, and store datasets, allowing each transaction to be connected to its product category and sales territory. After filtering the data to include only Colorado and South Carolina, I used the </a:t>
            </a:r>
            <a:r>
              <a:rPr lang="en-US" sz="1200" kern="1200" dirty="0" err="1">
                <a:solidFill>
                  <a:schemeClr val="tx1"/>
                </a:solidFill>
                <a:latin typeface="+mn-lt"/>
                <a:ea typeface="+mn-ea"/>
                <a:cs typeface="+mn-cs"/>
              </a:rPr>
              <a:t>groupby</a:t>
            </a:r>
            <a:r>
              <a:rPr lang="en-US" sz="1200" kern="1200" dirty="0">
                <a:solidFill>
                  <a:schemeClr val="tx1"/>
                </a:solidFill>
                <a:latin typeface="+mn-lt"/>
                <a:ea typeface="+mn-ea"/>
                <a:cs typeface="+mn-cs"/>
              </a:rPr>
              <a:t>()</a:t>
            </a:r>
            <a:r>
              <a:rPr lang="en-US" dirty="0"/>
              <a:t> method to calculate both the number of transactions and total sales revenue for each product category by month and territory. The </a:t>
            </a:r>
            <a:r>
              <a:rPr lang="en-US" sz="1200" kern="1200" dirty="0">
                <a:solidFill>
                  <a:schemeClr val="tx1"/>
                </a:solidFill>
                <a:latin typeface="+mn-lt"/>
                <a:ea typeface="+mn-ea"/>
                <a:cs typeface="+mn-cs"/>
              </a:rPr>
              <a:t>count()</a:t>
            </a:r>
            <a:r>
              <a:rPr lang="en-US" dirty="0"/>
              <a:t> method was used to measure transaction activity, while the </a:t>
            </a:r>
            <a:r>
              <a:rPr lang="en-US" sz="1200" kern="1200" dirty="0">
                <a:solidFill>
                  <a:schemeClr val="tx1"/>
                </a:solidFill>
                <a:latin typeface="+mn-lt"/>
                <a:ea typeface="+mn-ea"/>
                <a:cs typeface="+mn-cs"/>
              </a:rPr>
              <a:t>sum()</a:t>
            </a:r>
            <a:r>
              <a:rPr lang="en-US" dirty="0"/>
              <a:t> method was used to calculate revenue totals. Finally, I used for loops to display the results, making it possible to identify the most popular product categories, compare revenue performance, and uncover potential opportunities for future business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734C43B-C3A6-DF92-37B0-FB149A3C753B}"/>
              </a:ext>
            </a:extLst>
          </p:cNvPr>
          <p:cNvSpPr>
            <a:spLocks noGrp="1"/>
          </p:cNvSpPr>
          <p:nvPr>
            <p:ph type="sldNum" sz="quarter" idx="5"/>
          </p:nvPr>
        </p:nvSpPr>
        <p:spPr/>
        <p:txBody>
          <a:bodyPr/>
          <a:lstStyle/>
          <a:p>
            <a:fld id="{8BD8D037-E105-4D60-82D6-4F1E791B7B9D}" type="slidenum">
              <a:t>9</a:t>
            </a:fld>
            <a:endParaRPr lang="en-US"/>
          </a:p>
        </p:txBody>
      </p:sp>
    </p:spTree>
    <p:extLst>
      <p:ext uri="{BB962C8B-B14F-4D97-AF65-F5344CB8AC3E}">
        <p14:creationId xmlns:p14="http://schemas.microsoft.com/office/powerpoint/2010/main" val="493675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14614-4850-605A-937F-6B58960AC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D9DFF-C879-8AF2-E9C9-9EA8635D51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AE458-F7E6-54A0-B76A-33C0136B9AA8}"/>
              </a:ext>
            </a:extLst>
          </p:cNvPr>
          <p:cNvSpPr>
            <a:spLocks noGrp="1"/>
          </p:cNvSpPr>
          <p:nvPr>
            <p:ph type="body" idx="1"/>
          </p:nvPr>
        </p:nvSpPr>
        <p:spPr/>
        <p:txBody>
          <a:bodyPr/>
          <a:lstStyle/>
          <a:p>
            <a:r>
              <a:rPr lang="en-US" dirty="0"/>
              <a:t>
How I got my results, I first converted the transaction dates into month and year values so the sales data could be analyzed over time. I then used a series of </a:t>
            </a:r>
            <a:r>
              <a:rPr lang="en-US" sz="1200" kern="1200" dirty="0" err="1">
                <a:solidFill>
                  <a:schemeClr val="tx1"/>
                </a:solidFill>
                <a:latin typeface="+mn-lt"/>
                <a:ea typeface="+mn-ea"/>
                <a:cs typeface="+mn-cs"/>
              </a:rPr>
              <a:t>pd.merge</a:t>
            </a:r>
            <a:r>
              <a:rPr lang="en-US" sz="1200" kern="1200" dirty="0">
                <a:solidFill>
                  <a:schemeClr val="tx1"/>
                </a:solidFill>
                <a:latin typeface="+mn-lt"/>
                <a:ea typeface="+mn-ea"/>
                <a:cs typeface="+mn-cs"/>
              </a:rPr>
              <a:t>()</a:t>
            </a:r>
            <a:r>
              <a:rPr lang="en-US" dirty="0"/>
              <a:t> methods to combine the sales, product, product category, and store datasets, allowing each transaction to be connected to its product category and sales territory. After filtering the data to include only Colorado and South Carolina, I used the </a:t>
            </a:r>
            <a:r>
              <a:rPr lang="en-US" sz="1200" kern="1200" dirty="0" err="1">
                <a:solidFill>
                  <a:schemeClr val="tx1"/>
                </a:solidFill>
                <a:latin typeface="+mn-lt"/>
                <a:ea typeface="+mn-ea"/>
                <a:cs typeface="+mn-cs"/>
              </a:rPr>
              <a:t>groupby</a:t>
            </a:r>
            <a:r>
              <a:rPr lang="en-US" sz="1200" kern="1200" dirty="0">
                <a:solidFill>
                  <a:schemeClr val="tx1"/>
                </a:solidFill>
                <a:latin typeface="+mn-lt"/>
                <a:ea typeface="+mn-ea"/>
                <a:cs typeface="+mn-cs"/>
              </a:rPr>
              <a:t>()</a:t>
            </a:r>
            <a:r>
              <a:rPr lang="en-US" dirty="0"/>
              <a:t> method to calculate both the number of transactions and total sales revenue for each product category by month and territory. The </a:t>
            </a:r>
            <a:r>
              <a:rPr lang="en-US" sz="1200" kern="1200" dirty="0">
                <a:solidFill>
                  <a:schemeClr val="tx1"/>
                </a:solidFill>
                <a:latin typeface="+mn-lt"/>
                <a:ea typeface="+mn-ea"/>
                <a:cs typeface="+mn-cs"/>
              </a:rPr>
              <a:t>count()</a:t>
            </a:r>
            <a:r>
              <a:rPr lang="en-US" dirty="0"/>
              <a:t> method was used to measure transaction activity, while the </a:t>
            </a:r>
            <a:r>
              <a:rPr lang="en-US" sz="1200" kern="1200" dirty="0">
                <a:solidFill>
                  <a:schemeClr val="tx1"/>
                </a:solidFill>
                <a:latin typeface="+mn-lt"/>
                <a:ea typeface="+mn-ea"/>
                <a:cs typeface="+mn-cs"/>
              </a:rPr>
              <a:t>sum()</a:t>
            </a:r>
            <a:r>
              <a:rPr lang="en-US" dirty="0"/>
              <a:t> method was used to calculate revenue totals. Finally, I used for loops to display the results, making it possible to identify the most popular product categories, compare revenue performance, and uncover potential opportunities for future business growth.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418D971-BFCC-2040-7958-DB48FC701AFA}"/>
              </a:ext>
            </a:extLst>
          </p:cNvPr>
          <p:cNvSpPr>
            <a:spLocks noGrp="1"/>
          </p:cNvSpPr>
          <p:nvPr>
            <p:ph type="sldNum" sz="quarter" idx="5"/>
          </p:nvPr>
        </p:nvSpPr>
        <p:spPr/>
        <p:txBody>
          <a:bodyPr/>
          <a:lstStyle/>
          <a:p>
            <a:fld id="{8BD8D037-E105-4D60-82D6-4F1E791B7B9D}" type="slidenum">
              <a:t>10</a:t>
            </a:fld>
            <a:endParaRPr lang="en-US"/>
          </a:p>
        </p:txBody>
      </p:sp>
    </p:spTree>
    <p:extLst>
      <p:ext uri="{BB962C8B-B14F-4D97-AF65-F5344CB8AC3E}">
        <p14:creationId xmlns:p14="http://schemas.microsoft.com/office/powerpoint/2010/main" val="129342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BE384-0DE6-5886-887B-89D3A17A8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7B308B-4A34-EA5D-55D3-95AC8434F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9C3B3A-172D-5144-D1C5-F72694FA58BA}"/>
              </a:ext>
            </a:extLst>
          </p:cNvPr>
          <p:cNvSpPr>
            <a:spLocks noGrp="1"/>
          </p:cNvSpPr>
          <p:nvPr>
            <p:ph type="body" idx="1"/>
          </p:nvPr>
        </p:nvSpPr>
        <p:spPr/>
        <p:txBody>
          <a:bodyPr/>
          <a:lstStyle/>
          <a:p>
            <a:r>
              <a:rPr lang="en-US" dirty="0"/>
              <a:t>
This chart depicts the monthly sales revenue generated by each product category in the Colorado sales territory throughout the reporting period. I chose a line chart because it is effective for showing changes and trends over time, making it easier to compare how each product category performed from month to month. To improve readability, I customized the chart by adding markers to highlight each monthly data point, a legend to identify the product categories, descriptive titles and axis labels, rotated the x-axis labels by 45 degrees, and included grid lines to make revenue comparisons easier. The chart shows that Technology &amp; Accessories consistently generated the highest revenue and experienced the largest spikes throughout the reporting period, while categories such as Textbooks, Stationery and Supplies, and Art Supplies generated lower but more stable revenue levels, helping identify both top-performing categories and potential opportunities for future marketing efforts.</a:t>
            </a:r>
          </a:p>
        </p:txBody>
      </p:sp>
      <p:sp>
        <p:nvSpPr>
          <p:cNvPr id="4" name="Slide Number Placeholder 3">
            <a:extLst>
              <a:ext uri="{FF2B5EF4-FFF2-40B4-BE49-F238E27FC236}">
                <a16:creationId xmlns:a16="http://schemas.microsoft.com/office/drawing/2014/main" id="{C11BD00A-0056-8EE8-742D-990A723C4E13}"/>
              </a:ext>
            </a:extLst>
          </p:cNvPr>
          <p:cNvSpPr>
            <a:spLocks noGrp="1"/>
          </p:cNvSpPr>
          <p:nvPr>
            <p:ph type="sldNum" sz="quarter" idx="5"/>
          </p:nvPr>
        </p:nvSpPr>
        <p:spPr/>
        <p:txBody>
          <a:bodyPr/>
          <a:lstStyle/>
          <a:p>
            <a:fld id="{8BD8D037-E105-4D60-82D6-4F1E791B7B9D}" type="slidenum">
              <a:t>11</a:t>
            </a:fld>
            <a:endParaRPr lang="en-US"/>
          </a:p>
        </p:txBody>
      </p:sp>
    </p:spTree>
    <p:extLst>
      <p:ext uri="{BB962C8B-B14F-4D97-AF65-F5344CB8AC3E}">
        <p14:creationId xmlns:p14="http://schemas.microsoft.com/office/powerpoint/2010/main" val="2917423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1BCF7-DB07-1F00-D1E7-0517AC0CF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047F7-6B12-C47C-CE22-2D32FD9B0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63901-5150-99AD-E40A-5FDA6B9650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This chart depicts the top five customers in the Colorado sales territory based on total revenue generated during the reporting period. I chose a bar chart because it clearly compares customer revenue and makes it easy to identify the highest-performing customers. To create the chart, I used the </a:t>
            </a:r>
            <a:r>
              <a:rPr lang="en-US" sz="1200" kern="1200" dirty="0">
                <a:solidFill>
                  <a:schemeClr val="tx1"/>
                </a:solidFill>
                <a:latin typeface="+mn-lt"/>
                <a:ea typeface="+mn-ea"/>
                <a:cs typeface="+mn-cs"/>
              </a:rPr>
              <a:t>State</a:t>
            </a:r>
            <a:r>
              <a:rPr lang="en-US" dirty="0"/>
              <a:t>, </a:t>
            </a:r>
            <a:r>
              <a:rPr lang="en-US" sz="1200" kern="1200" dirty="0">
                <a:solidFill>
                  <a:schemeClr val="tx1"/>
                </a:solidFill>
                <a:latin typeface="+mn-lt"/>
                <a:ea typeface="+mn-ea"/>
                <a:cs typeface="+mn-cs"/>
              </a:rPr>
              <a:t>name</a:t>
            </a:r>
            <a:r>
              <a:rPr lang="en-US" dirty="0"/>
              <a:t>, and </a:t>
            </a:r>
            <a:r>
              <a:rPr lang="en-US" sz="1200" kern="1200" dirty="0">
                <a:solidFill>
                  <a:schemeClr val="tx1"/>
                </a:solidFill>
                <a:latin typeface="+mn-lt"/>
                <a:ea typeface="+mn-ea"/>
                <a:cs typeface="+mn-cs"/>
              </a:rPr>
              <a:t>Sale Amount</a:t>
            </a:r>
            <a:r>
              <a:rPr lang="en-US" dirty="0"/>
              <a:t> attributes from the </a:t>
            </a:r>
            <a:r>
              <a:rPr lang="en-US" sz="1200" kern="1200" dirty="0" err="1">
                <a:solidFill>
                  <a:schemeClr val="tx1"/>
                </a:solidFill>
                <a:latin typeface="+mn-lt"/>
                <a:ea typeface="+mn-ea"/>
                <a:cs typeface="+mn-cs"/>
              </a:rPr>
              <a:t>top_customers_df</a:t>
            </a:r>
            <a:r>
              <a:rPr lang="en-US" dirty="0"/>
              <a:t> </a:t>
            </a:r>
            <a:r>
              <a:rPr lang="en-US" dirty="0" err="1"/>
              <a:t>dataframe</a:t>
            </a:r>
            <a:r>
              <a:rPr lang="en-US" dirty="0"/>
              <a:t>, filtered the data by territory, and selected the top five customers using </a:t>
            </a:r>
            <a:r>
              <a:rPr lang="en-US" sz="1200" kern="1200" dirty="0">
                <a:solidFill>
                  <a:schemeClr val="tx1"/>
                </a:solidFill>
                <a:latin typeface="+mn-lt"/>
                <a:ea typeface="+mn-ea"/>
                <a:cs typeface="+mn-cs"/>
              </a:rPr>
              <a:t>head(5)</a:t>
            </a:r>
            <a:r>
              <a:rPr lang="en-US" dirty="0"/>
              <a:t>. I used a for loop to create a separate chart for each territory and customized the chart by adding a title, axis labels, rotating the customer names by 45 degrees, and using </a:t>
            </a:r>
            <a:r>
              <a:rPr lang="en-US" sz="1200" kern="1200" dirty="0" err="1">
                <a:solidFill>
                  <a:schemeClr val="tx1"/>
                </a:solidFill>
                <a:latin typeface="+mn-lt"/>
                <a:ea typeface="+mn-ea"/>
                <a:cs typeface="+mn-cs"/>
              </a:rPr>
              <a:t>tight_layout</a:t>
            </a:r>
            <a:r>
              <a:rPr lang="en-US" sz="1200" kern="1200" dirty="0">
                <a:solidFill>
                  <a:schemeClr val="tx1"/>
                </a:solidFill>
                <a:latin typeface="+mn-lt"/>
                <a:ea typeface="+mn-ea"/>
                <a:cs typeface="+mn-cs"/>
              </a:rPr>
              <a:t>()</a:t>
            </a:r>
            <a:r>
              <a:rPr lang="en-US" dirty="0"/>
              <a:t> to improve readability. The chart shows that Jin Kwon generated the highest revenue in Colorado, making them the top customer in the territory.</a:t>
            </a:r>
          </a:p>
          <a:p>
            <a:endParaRPr lang="en-US" dirty="0"/>
          </a:p>
        </p:txBody>
      </p:sp>
      <p:sp>
        <p:nvSpPr>
          <p:cNvPr id="4" name="Slide Number Placeholder 3">
            <a:extLst>
              <a:ext uri="{FF2B5EF4-FFF2-40B4-BE49-F238E27FC236}">
                <a16:creationId xmlns:a16="http://schemas.microsoft.com/office/drawing/2014/main" id="{F705646F-FA7E-22ED-27AC-542603671764}"/>
              </a:ext>
            </a:extLst>
          </p:cNvPr>
          <p:cNvSpPr>
            <a:spLocks noGrp="1"/>
          </p:cNvSpPr>
          <p:nvPr>
            <p:ph type="sldNum" sz="quarter" idx="5"/>
          </p:nvPr>
        </p:nvSpPr>
        <p:spPr/>
        <p:txBody>
          <a:bodyPr/>
          <a:lstStyle/>
          <a:p>
            <a:fld id="{8BD8D037-E105-4D60-82D6-4F1E791B7B9D}" type="slidenum">
              <a:t>12</a:t>
            </a:fld>
            <a:endParaRPr lang="en-US"/>
          </a:p>
        </p:txBody>
      </p:sp>
    </p:spTree>
    <p:extLst>
      <p:ext uri="{BB962C8B-B14F-4D97-AF65-F5344CB8AC3E}">
        <p14:creationId xmlns:p14="http://schemas.microsoft.com/office/powerpoint/2010/main" val="646210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27BB-5936-87E5-B450-4B64A1C2A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7C4F9-A994-E3B8-3C14-8D8932317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E46247-1C51-395D-2383-EDA1729D2E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This chart depicts the top five customers in the Colorado sales territory based on total revenue generated during the reporting period. I chose a bar chart because it clearly compares customer revenue and makes it easy to identify the highest-performing customers. To create the chart, I used the </a:t>
            </a:r>
            <a:r>
              <a:rPr lang="en-US" sz="1200" kern="1200" dirty="0">
                <a:solidFill>
                  <a:schemeClr val="tx1"/>
                </a:solidFill>
                <a:latin typeface="+mn-lt"/>
                <a:ea typeface="+mn-ea"/>
                <a:cs typeface="+mn-cs"/>
              </a:rPr>
              <a:t>State</a:t>
            </a:r>
            <a:r>
              <a:rPr lang="en-US" dirty="0"/>
              <a:t>, </a:t>
            </a:r>
            <a:r>
              <a:rPr lang="en-US" sz="1200" kern="1200" dirty="0">
                <a:solidFill>
                  <a:schemeClr val="tx1"/>
                </a:solidFill>
                <a:latin typeface="+mn-lt"/>
                <a:ea typeface="+mn-ea"/>
                <a:cs typeface="+mn-cs"/>
              </a:rPr>
              <a:t>name</a:t>
            </a:r>
            <a:r>
              <a:rPr lang="en-US" dirty="0"/>
              <a:t>, and </a:t>
            </a:r>
            <a:r>
              <a:rPr lang="en-US" sz="1200" kern="1200" dirty="0">
                <a:solidFill>
                  <a:schemeClr val="tx1"/>
                </a:solidFill>
                <a:latin typeface="+mn-lt"/>
                <a:ea typeface="+mn-ea"/>
                <a:cs typeface="+mn-cs"/>
              </a:rPr>
              <a:t>Sale Amount</a:t>
            </a:r>
            <a:r>
              <a:rPr lang="en-US" dirty="0"/>
              <a:t> attributes from the </a:t>
            </a:r>
            <a:r>
              <a:rPr lang="en-US" sz="1200" kern="1200" dirty="0" err="1">
                <a:solidFill>
                  <a:schemeClr val="tx1"/>
                </a:solidFill>
                <a:latin typeface="+mn-lt"/>
                <a:ea typeface="+mn-ea"/>
                <a:cs typeface="+mn-cs"/>
              </a:rPr>
              <a:t>top_customers_df</a:t>
            </a:r>
            <a:r>
              <a:rPr lang="en-US" dirty="0"/>
              <a:t> </a:t>
            </a:r>
            <a:r>
              <a:rPr lang="en-US" dirty="0" err="1"/>
              <a:t>dataframe</a:t>
            </a:r>
            <a:r>
              <a:rPr lang="en-US" dirty="0"/>
              <a:t>, filtered the data by territory, and selected the top five customers using </a:t>
            </a:r>
            <a:r>
              <a:rPr lang="en-US" sz="1200" kern="1200" dirty="0">
                <a:solidFill>
                  <a:schemeClr val="tx1"/>
                </a:solidFill>
                <a:latin typeface="+mn-lt"/>
                <a:ea typeface="+mn-ea"/>
                <a:cs typeface="+mn-cs"/>
              </a:rPr>
              <a:t>head(5)</a:t>
            </a:r>
            <a:r>
              <a:rPr lang="en-US" dirty="0"/>
              <a:t>. I used a for loop to create a separate chart for each territory and customized the chart by adding a title, axis labels, rotating the customer names by 45 degrees, and using </a:t>
            </a:r>
            <a:r>
              <a:rPr lang="en-US" sz="1200" kern="1200" dirty="0" err="1">
                <a:solidFill>
                  <a:schemeClr val="tx1"/>
                </a:solidFill>
                <a:latin typeface="+mn-lt"/>
                <a:ea typeface="+mn-ea"/>
                <a:cs typeface="+mn-cs"/>
              </a:rPr>
              <a:t>tight_layout</a:t>
            </a:r>
            <a:r>
              <a:rPr lang="en-US" sz="1200" kern="1200" dirty="0">
                <a:solidFill>
                  <a:schemeClr val="tx1"/>
                </a:solidFill>
                <a:latin typeface="+mn-lt"/>
                <a:ea typeface="+mn-ea"/>
                <a:cs typeface="+mn-cs"/>
              </a:rPr>
              <a:t>()</a:t>
            </a:r>
            <a:r>
              <a:rPr lang="en-US" dirty="0"/>
              <a:t> to improve readability. The chart shows that Jin Kwon generated the highest revenue in Colorado, making them the top customer in the territory.</a:t>
            </a:r>
          </a:p>
          <a:p>
            <a:endParaRPr lang="en-US" dirty="0"/>
          </a:p>
        </p:txBody>
      </p:sp>
      <p:sp>
        <p:nvSpPr>
          <p:cNvPr id="4" name="Slide Number Placeholder 3">
            <a:extLst>
              <a:ext uri="{FF2B5EF4-FFF2-40B4-BE49-F238E27FC236}">
                <a16:creationId xmlns:a16="http://schemas.microsoft.com/office/drawing/2014/main" id="{9E980275-642E-3B10-8A31-75DEEDB8D7E9}"/>
              </a:ext>
            </a:extLst>
          </p:cNvPr>
          <p:cNvSpPr>
            <a:spLocks noGrp="1"/>
          </p:cNvSpPr>
          <p:nvPr>
            <p:ph type="sldNum" sz="quarter" idx="5"/>
          </p:nvPr>
        </p:nvSpPr>
        <p:spPr/>
        <p:txBody>
          <a:bodyPr/>
          <a:lstStyle/>
          <a:p>
            <a:fld id="{8BD8D037-E105-4D60-82D6-4F1E791B7B9D}" type="slidenum">
              <a:t>13</a:t>
            </a:fld>
            <a:endParaRPr lang="en-US"/>
          </a:p>
        </p:txBody>
      </p:sp>
    </p:spTree>
    <p:extLst>
      <p:ext uri="{BB962C8B-B14F-4D97-AF65-F5344CB8AC3E}">
        <p14:creationId xmlns:p14="http://schemas.microsoft.com/office/powerpoint/2010/main" val="12006885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5/28/2026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28075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96614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6033749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5/28/2026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670494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709720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6954223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059247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773332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5/28/2026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41370117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5/28/2026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7594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5/28/2026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648336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1669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4842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82009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71569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97200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748220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53182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5/28/2026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319959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5/28/2026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2722422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5/28/2026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88722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5/28/2026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8156453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5/28/2026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6131058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544453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739521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5/28/2026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78041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03070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0229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958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47245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472463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5/28/2026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99784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572811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5/28/2026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277416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5/28/2026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00411557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5/28/2026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353035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5/28/2026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6414338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5/28/2026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2693775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5/28/2026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958915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5/28/2026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021245661"/>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5/28/2026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6213445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5/28/2026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24271417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5/28/2026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28558713"/>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5/28/2026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132966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5/28/2026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7496843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5/28/2026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568986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5/28/2026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35751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5/28/2026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792305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5/28/2026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091112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503407994"/>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5/28/2026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091753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5/28/2026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176192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4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E706-908A-ADBB-217D-305893933FF2}"/>
              </a:ext>
            </a:extLst>
          </p:cNvPr>
          <p:cNvSpPr>
            <a:spLocks noGrp="1"/>
          </p:cNvSpPr>
          <p:nvPr>
            <p:ph type="ctrTitle"/>
          </p:nvPr>
        </p:nvSpPr>
        <p:spPr/>
        <p:txBody>
          <a:bodyPr>
            <a:normAutofit fontScale="90000"/>
          </a:bodyPr>
          <a:lstStyle/>
          <a:p>
            <a:r>
              <a:rPr lang="en-US" dirty="0"/>
              <a:t>Capstone Project Analyzing Sales Regions Using Python</a:t>
            </a:r>
          </a:p>
        </p:txBody>
      </p:sp>
      <p:sp>
        <p:nvSpPr>
          <p:cNvPr id="3" name="Subtitle 2">
            <a:extLst>
              <a:ext uri="{FF2B5EF4-FFF2-40B4-BE49-F238E27FC236}">
                <a16:creationId xmlns:a16="http://schemas.microsoft.com/office/drawing/2014/main" id="{9E25677B-9375-07A0-8509-9BA79E23C17E}"/>
              </a:ext>
            </a:extLst>
          </p:cNvPr>
          <p:cNvSpPr>
            <a:spLocks noGrp="1"/>
          </p:cNvSpPr>
          <p:nvPr>
            <p:ph type="subTitle" idx="1"/>
          </p:nvPr>
        </p:nvSpPr>
        <p:spPr>
          <a:xfrm>
            <a:off x="449279" y="5181600"/>
            <a:ext cx="7543001" cy="1407383"/>
          </a:xfrm>
        </p:spPr>
        <p:txBody>
          <a:bodyPr>
            <a:normAutofit/>
          </a:bodyPr>
          <a:lstStyle/>
          <a:p>
            <a:r>
              <a:rPr lang="en-US" dirty="0"/>
              <a:t>Antonio Kasaiah</a:t>
            </a:r>
            <a:br>
              <a:rPr lang="en-US" dirty="0"/>
            </a:br>
            <a:r>
              <a:rPr lang="en-US" dirty="0"/>
              <a:t>Colorado &amp; South Carolina Sales Analysis</a:t>
            </a:r>
            <a:br>
              <a:rPr lang="en-US" dirty="0"/>
            </a:br>
            <a:r>
              <a:rPr lang="en-US" dirty="0"/>
              <a:t>May 2026</a:t>
            </a:r>
          </a:p>
        </p:txBody>
      </p:sp>
    </p:spTree>
    <p:extLst>
      <p:ext uri="{BB962C8B-B14F-4D97-AF65-F5344CB8AC3E}">
        <p14:creationId xmlns:p14="http://schemas.microsoft.com/office/powerpoint/2010/main" val="285029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B0028-7EEE-49ED-02CD-9F7CC32845D9}"/>
              </a:ext>
            </a:extLst>
          </p:cNvPr>
          <p:cNvSpPr>
            <a:spLocks noGrp="1"/>
          </p:cNvSpPr>
          <p:nvPr>
            <p:ph type="title"/>
          </p:nvPr>
        </p:nvSpPr>
        <p:spPr>
          <a:xfrm>
            <a:off x="457198" y="457200"/>
            <a:ext cx="4702629" cy="967512"/>
          </a:xfrm>
        </p:spPr>
        <p:txBody>
          <a:bodyPr anchor="b">
            <a:normAutofit/>
          </a:bodyPr>
          <a:lstStyle/>
          <a:p>
            <a:r>
              <a:rPr lang="en-US"/>
              <a:t>Introduction</a:t>
            </a:r>
          </a:p>
        </p:txBody>
      </p:sp>
      <p:sp>
        <p:nvSpPr>
          <p:cNvPr id="4" name="Content Placeholder 3">
            <a:extLst>
              <a:ext uri="{FF2B5EF4-FFF2-40B4-BE49-F238E27FC236}">
                <a16:creationId xmlns:a16="http://schemas.microsoft.com/office/drawing/2014/main" id="{896FDA8F-4A2E-D31E-FE15-A6151F89D3B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96593"/>
            <a:ext cx="4702629" cy="4765805"/>
          </a:xfrm>
        </p:spPr>
        <p:txBody>
          <a:bodyPr>
            <a:normAutofit/>
          </a:bodyPr>
          <a:lstStyle/>
          <a:p>
            <a:pPr marL="0" indent="0">
              <a:spcBef>
                <a:spcPts val="2500"/>
              </a:spcBef>
              <a:buFont typeface="Arial" panose="020B0604020202020204" pitchFamily="34" charset="0"/>
              <a:buNone/>
            </a:pPr>
            <a:r>
              <a:rPr lang="en-US" b="1"/>
              <a:t>Project Background</a:t>
            </a:r>
          </a:p>
          <a:p>
            <a:pPr marL="0" lvl="1" indent="0">
              <a:buFont typeface="Arial" panose="020B0604020202020204" pitchFamily="34" charset="0"/>
              <a:buNone/>
            </a:pPr>
            <a:r>
              <a:rPr lang="en-US"/>
              <a:t>The project analyzes sales for EmporiUM, a multi-category bookstore chain across several states.</a:t>
            </a:r>
          </a:p>
          <a:p>
            <a:pPr marL="0" indent="0">
              <a:spcBef>
                <a:spcPts val="2500"/>
              </a:spcBef>
              <a:buNone/>
            </a:pPr>
            <a:endParaRPr lang="en-US" b="1"/>
          </a:p>
          <a:p>
            <a:pPr marL="0" indent="0">
              <a:spcBef>
                <a:spcPts val="2500"/>
              </a:spcBef>
              <a:buFont typeface="Arial" panose="020B0604020202020204" pitchFamily="34" charset="0"/>
              <a:buNone/>
            </a:pPr>
            <a:r>
              <a:rPr lang="en-US" b="1"/>
              <a:t>Territory Assignment </a:t>
            </a:r>
          </a:p>
          <a:p>
            <a:pPr marL="0" lvl="1" indent="0">
              <a:buFont typeface="Arial" panose="020B0604020202020204" pitchFamily="34" charset="0"/>
              <a:buNone/>
            </a:pPr>
            <a:r>
              <a:rPr lang="en-US"/>
              <a:t>I was assigned the West and South regions, specifically the state of Colorado and South Carolina.</a:t>
            </a:r>
          </a:p>
          <a:p>
            <a:pPr marL="0" indent="0">
              <a:spcBef>
                <a:spcPts val="2500"/>
              </a:spcBef>
              <a:buNone/>
            </a:pPr>
            <a:endParaRPr lang="en-US" b="1"/>
          </a:p>
          <a:p>
            <a:pPr marL="0" indent="0">
              <a:spcBef>
                <a:spcPts val="2500"/>
              </a:spcBef>
              <a:buFont typeface="Arial" panose="020B0604020202020204" pitchFamily="34" charset="0"/>
              <a:buNone/>
            </a:pPr>
            <a:r>
              <a:rPr lang="en-US" b="1"/>
              <a:t>Analysis Objectives</a:t>
            </a:r>
          </a:p>
          <a:p>
            <a:pPr marL="0" lvl="1" indent="0">
              <a:buFont typeface="Arial" panose="020B0604020202020204" pitchFamily="34" charset="0"/>
              <a:buNone/>
            </a:pPr>
            <a:r>
              <a:rPr lang="en-US"/>
              <a:t>The analysis aims to answer sales questions on revenue, trends, comparisons, and recommendations using Jupyter notebook.</a:t>
            </a:r>
          </a:p>
        </p:txBody>
      </p:sp>
      <p:pic>
        <p:nvPicPr>
          <p:cNvPr id="5" name="Content Placeholder 4" descr="Manager checking sales reports in his business office">
            <a:extLst>
              <a:ext uri="{FF2B5EF4-FFF2-40B4-BE49-F238E27FC236}">
                <a16:creationId xmlns:a16="http://schemas.microsoft.com/office/drawing/2014/main" id="{29ED95E2-D2A5-4AA4-B73E-C6AF70AFE3DA}"/>
              </a:ext>
            </a:extLst>
          </p:cNvPr>
          <p:cNvPicPr>
            <a:picLocks noGrp="1" noChangeAspect="1"/>
          </p:cNvPicPr>
          <p:nvPr>
            <p:ph type="pic" sz="quarter" idx="13"/>
          </p:nvPr>
        </p:nvPicPr>
        <p:blipFill>
          <a:blip r:embed="rId3"/>
          <a:stretch/>
        </p:blipFill>
        <p:spPr>
          <a:xfrm>
            <a:off x="5666014" y="1250953"/>
            <a:ext cx="6525985" cy="4356094"/>
          </a:xfrm>
          <a:prstGeom prst="rect">
            <a:avLst/>
          </a:prstGeom>
          <a:noFill/>
        </p:spPr>
      </p:pic>
    </p:spTree>
    <p:extLst>
      <p:ext uri="{BB962C8B-B14F-4D97-AF65-F5344CB8AC3E}">
        <p14:creationId xmlns:p14="http://schemas.microsoft.com/office/powerpoint/2010/main" val="316131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C3BFB-3C73-EA8E-7594-7B983E871CCD}"/>
              </a:ext>
            </a:extLst>
          </p:cNvPr>
          <p:cNvSpPr>
            <a:spLocks noGrp="1"/>
          </p:cNvSpPr>
          <p:nvPr>
            <p:ph type="title"/>
          </p:nvPr>
        </p:nvSpPr>
        <p:spPr>
          <a:xfrm>
            <a:off x="457200" y="438912"/>
            <a:ext cx="6249032" cy="987552"/>
          </a:xfrm>
        </p:spPr>
        <p:txBody>
          <a:bodyPr anchor="b">
            <a:normAutofit/>
          </a:bodyPr>
          <a:lstStyle/>
          <a:p>
            <a:r>
              <a:rPr lang="en-US" dirty="0"/>
              <a:t>Sales Analysis Questions</a:t>
            </a:r>
          </a:p>
        </p:txBody>
      </p:sp>
      <p:sp>
        <p:nvSpPr>
          <p:cNvPr id="4" name="Content Placeholder 3">
            <a:extLst>
              <a:ext uri="{FF2B5EF4-FFF2-40B4-BE49-F238E27FC236}">
                <a16:creationId xmlns:a16="http://schemas.microsoft.com/office/drawing/2014/main" id="{FD895270-D923-7AA3-34C9-BF374065A6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2031143"/>
            <a:ext cx="6249032" cy="4203402"/>
          </a:xfrm>
        </p:spPr>
        <p:txBody>
          <a:bodyPr>
            <a:noAutofit/>
          </a:bodyPr>
          <a:lstStyle/>
          <a:p>
            <a:pPr marL="0" indent="0">
              <a:lnSpc>
                <a:spcPct val="110000"/>
              </a:lnSpc>
              <a:spcBef>
                <a:spcPts val="2500"/>
              </a:spcBef>
              <a:buNone/>
            </a:pPr>
            <a:r>
              <a:rPr lang="en-US" sz="1200" b="1" dirty="0"/>
              <a:t>Who are the territory managers for the sales territories assigned? What are the store IDs and cities for the stores in each assigned sales territory? </a:t>
            </a:r>
          </a:p>
          <a:p>
            <a:pPr marL="0" indent="0">
              <a:lnSpc>
                <a:spcPct val="110000"/>
              </a:lnSpc>
              <a:spcBef>
                <a:spcPts val="2500"/>
              </a:spcBef>
              <a:buNone/>
            </a:pPr>
            <a:r>
              <a:rPr lang="en-US" sz="1200" b="1" dirty="0"/>
              <a:t>What is monthly total revenue for in-store sales in each of the two sales territories, over the full period covered by the data? </a:t>
            </a:r>
          </a:p>
          <a:p>
            <a:pPr marL="0" indent="0">
              <a:lnSpc>
                <a:spcPct val="110000"/>
              </a:lnSpc>
              <a:spcBef>
                <a:spcPts val="2500"/>
              </a:spcBef>
              <a:buNone/>
            </a:pPr>
            <a:r>
              <a:rPr lang="en-US" sz="1200" b="1" dirty="0"/>
              <a:t> How would you rank the sales performance of each store in each sales territory? Which are the top-performing stores? </a:t>
            </a:r>
          </a:p>
          <a:p>
            <a:pPr marL="0" indent="0">
              <a:lnSpc>
                <a:spcPct val="110000"/>
              </a:lnSpc>
              <a:spcBef>
                <a:spcPts val="2500"/>
              </a:spcBef>
              <a:buNone/>
            </a:pPr>
            <a:r>
              <a:rPr lang="en-US" sz="1200" b="1" dirty="0"/>
              <a:t>Comparing the customer ID from the customer list data with the rewards ID from the sales data, who were the top customers in each sales territory? </a:t>
            </a:r>
          </a:p>
          <a:p>
            <a:pPr marL="0" indent="0">
              <a:lnSpc>
                <a:spcPct val="110000"/>
              </a:lnSpc>
              <a:spcBef>
                <a:spcPts val="2500"/>
              </a:spcBef>
              <a:buNone/>
            </a:pPr>
            <a:r>
              <a:rPr lang="en-US" sz="1200" b="1" dirty="0"/>
              <a:t>What is the number of transactions per month by product category in each assigned territory? What is total sales revenue per month by category? What might this tell you about the most popular products, and where could there be opportunity for growth? </a:t>
            </a:r>
          </a:p>
          <a:p>
            <a:pPr marL="0" indent="0">
              <a:lnSpc>
                <a:spcPct val="110000"/>
              </a:lnSpc>
              <a:spcBef>
                <a:spcPts val="2500"/>
              </a:spcBef>
              <a:buNone/>
            </a:pPr>
            <a:r>
              <a:rPr lang="en-US" sz="1200" b="1" dirty="0"/>
              <a:t>What is your recommendation for where to focus marketing attention in the next quarter? </a:t>
            </a:r>
          </a:p>
        </p:txBody>
      </p:sp>
      <p:pic>
        <p:nvPicPr>
          <p:cNvPr id="5" name="Content Placeholder 4" descr="A woman is holding a tablet that is displaying a line graph. She is sitting at a table with her coworkers. One of them is pointing at the screen. Another colleague is using their smartphone.">
            <a:extLst>
              <a:ext uri="{FF2B5EF4-FFF2-40B4-BE49-F238E27FC236}">
                <a16:creationId xmlns:a16="http://schemas.microsoft.com/office/drawing/2014/main" id="{CD8E3C05-3333-4130-965D-E15A107C1293}"/>
              </a:ext>
            </a:extLst>
          </p:cNvPr>
          <p:cNvPicPr>
            <a:picLocks noGrp="1" noChangeAspect="1"/>
          </p:cNvPicPr>
          <p:nvPr>
            <p:ph type="pic" sz="quarter" idx="13"/>
          </p:nvPr>
        </p:nvPicPr>
        <p:blipFill>
          <a:blip r:embed="rId3"/>
          <a:srcRect l="33131" r="20407"/>
          <a:stretch>
            <a:fillRect/>
          </a:stretch>
        </p:blipFill>
        <p:spPr>
          <a:xfrm>
            <a:off x="7400544" y="10"/>
            <a:ext cx="4791456" cy="6857990"/>
          </a:xfrm>
          <a:prstGeom prst="rect">
            <a:avLst/>
          </a:prstGeom>
          <a:noFill/>
        </p:spPr>
      </p:pic>
    </p:spTree>
    <p:extLst>
      <p:ext uri="{BB962C8B-B14F-4D97-AF65-F5344CB8AC3E}">
        <p14:creationId xmlns:p14="http://schemas.microsoft.com/office/powerpoint/2010/main" val="249500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6200F-C9B1-8B51-A73C-6982050959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C94611-257A-D61B-0F28-3A48DBA10C35}"/>
              </a:ext>
            </a:extLst>
          </p:cNvPr>
          <p:cNvSpPr txBox="1"/>
          <p:nvPr/>
        </p:nvSpPr>
        <p:spPr>
          <a:xfrm>
            <a:off x="1981200" y="274321"/>
            <a:ext cx="7100790" cy="646331"/>
          </a:xfrm>
          <a:prstGeom prst="rect">
            <a:avLst/>
          </a:prstGeom>
          <a:noFill/>
        </p:spPr>
        <p:txBody>
          <a:bodyPr wrap="none">
            <a:spAutoFit/>
          </a:bodyPr>
          <a:lstStyle/>
          <a:p>
            <a:r>
              <a:rPr sz="3600" b="1" dirty="0"/>
              <a:t>Creating Classes &amp; Loading Data</a:t>
            </a:r>
          </a:p>
        </p:txBody>
      </p:sp>
      <p:sp>
        <p:nvSpPr>
          <p:cNvPr id="4" name="Rectangle 3">
            <a:extLst>
              <a:ext uri="{FF2B5EF4-FFF2-40B4-BE49-F238E27FC236}">
                <a16:creationId xmlns:a16="http://schemas.microsoft.com/office/drawing/2014/main" id="{06F5973B-5035-606A-A048-DE3E37B219B8}"/>
              </a:ext>
            </a:extLst>
          </p:cNvPr>
          <p:cNvSpPr/>
          <p:nvPr/>
        </p:nvSpPr>
        <p:spPr>
          <a:xfrm>
            <a:off x="6347706" y="1495856"/>
            <a:ext cx="3931920" cy="4440248"/>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A42932EB-A6D1-3671-4B71-EB45CB5DB646}"/>
              </a:ext>
            </a:extLst>
          </p:cNvPr>
          <p:cNvSpPr txBox="1"/>
          <p:nvPr/>
        </p:nvSpPr>
        <p:spPr>
          <a:xfrm>
            <a:off x="6439146" y="1861616"/>
            <a:ext cx="3749040" cy="923330"/>
          </a:xfrm>
          <a:prstGeom prst="rect">
            <a:avLst/>
          </a:prstGeom>
          <a:noFill/>
        </p:spPr>
        <p:txBody>
          <a:bodyPr wrap="square">
            <a:spAutoFit/>
          </a:bodyPr>
          <a:lstStyle/>
          <a:p>
            <a:r>
              <a:rPr sz="1200" b="1" dirty="0">
                <a:solidFill>
                  <a:srgbClr val="FFFFFF"/>
                </a:solidFill>
                <a:latin typeface="Consolas"/>
              </a:rPr>
              <a:t>import </a:t>
            </a:r>
            <a:r>
              <a:rPr sz="1200" b="1" dirty="0" err="1">
                <a:solidFill>
                  <a:srgbClr val="FFFFFF"/>
                </a:solidFill>
                <a:latin typeface="Consolas"/>
              </a:rPr>
              <a:t>numpy</a:t>
            </a:r>
            <a:r>
              <a:rPr sz="1200" b="1" dirty="0">
                <a:solidFill>
                  <a:srgbClr val="FFFFFF"/>
                </a:solidFill>
                <a:latin typeface="Consolas"/>
              </a:rPr>
              <a:t> as np</a:t>
            </a:r>
            <a:br>
              <a:rPr sz="1200" b="1" dirty="0"/>
            </a:br>
            <a:r>
              <a:rPr sz="1200" b="1" dirty="0">
                <a:solidFill>
                  <a:srgbClr val="FFFFFF"/>
                </a:solidFill>
                <a:latin typeface="Consolas"/>
              </a:rPr>
              <a:t>import pandas as pd</a:t>
            </a:r>
            <a:br>
              <a:rPr sz="1200" b="1" dirty="0"/>
            </a:br>
            <a:r>
              <a:rPr sz="1200" b="1" dirty="0">
                <a:solidFill>
                  <a:srgbClr val="FFFFFF"/>
                </a:solidFill>
                <a:latin typeface="Consolas"/>
              </a:rPr>
              <a:t>import </a:t>
            </a:r>
            <a:r>
              <a:rPr sz="1200" b="1" dirty="0" err="1">
                <a:solidFill>
                  <a:srgbClr val="FFFFFF"/>
                </a:solidFill>
                <a:latin typeface="Consolas"/>
              </a:rPr>
              <a:t>matplotlib.pyplot</a:t>
            </a:r>
            <a:r>
              <a:rPr sz="1200" b="1" dirty="0">
                <a:solidFill>
                  <a:srgbClr val="FFFFFF"/>
                </a:solidFill>
                <a:latin typeface="Consolas"/>
              </a:rPr>
              <a:t> as </a:t>
            </a:r>
            <a:r>
              <a:rPr sz="1200" b="1" dirty="0" err="1">
                <a:solidFill>
                  <a:srgbClr val="FFFFFF"/>
                </a:solidFill>
                <a:latin typeface="Consolas"/>
              </a:rPr>
              <a:t>plt</a:t>
            </a:r>
            <a:endParaRPr lang="en-US" sz="1200" b="1" dirty="0">
              <a:solidFill>
                <a:srgbClr val="FFFFFF"/>
              </a:solidFill>
              <a:latin typeface="Consolas"/>
            </a:endParaRPr>
          </a:p>
          <a:p>
            <a:endParaRPr lang="en-US" dirty="0"/>
          </a:p>
        </p:txBody>
      </p:sp>
      <p:graphicFrame>
        <p:nvGraphicFramePr>
          <p:cNvPr id="7" name="TextBox 2">
            <a:extLst>
              <a:ext uri="{FF2B5EF4-FFF2-40B4-BE49-F238E27FC236}">
                <a16:creationId xmlns:a16="http://schemas.microsoft.com/office/drawing/2014/main" id="{678D054F-635E-F5CF-3D4F-F066BC567FB5}"/>
              </a:ext>
            </a:extLst>
          </p:cNvPr>
          <p:cNvGraphicFramePr/>
          <p:nvPr>
            <p:extLst>
              <p:ext uri="{D42A27DB-BD31-4B8C-83A1-F6EECF244321}">
                <p14:modId xmlns:p14="http://schemas.microsoft.com/office/powerpoint/2010/main" val="639900844"/>
              </p:ext>
            </p:extLst>
          </p:nvPr>
        </p:nvGraphicFramePr>
        <p:xfrm>
          <a:off x="1912374" y="1861616"/>
          <a:ext cx="41148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0E8B54BF-E2CC-0846-A66B-8B035D4F8461}"/>
              </a:ext>
            </a:extLst>
          </p:cNvPr>
          <p:cNvSpPr txBox="1"/>
          <p:nvPr/>
        </p:nvSpPr>
        <p:spPr>
          <a:xfrm>
            <a:off x="7512582" y="1495856"/>
            <a:ext cx="1546449" cy="338554"/>
          </a:xfrm>
          <a:prstGeom prst="rect">
            <a:avLst/>
          </a:prstGeom>
          <a:noFill/>
        </p:spPr>
        <p:txBody>
          <a:bodyPr wrap="none">
            <a:spAutoFit/>
          </a:bodyPr>
          <a:lstStyle/>
          <a:p>
            <a:r>
              <a:rPr sz="1600" b="1" dirty="0">
                <a:solidFill>
                  <a:srgbClr val="0066CC"/>
                </a:solidFill>
              </a:rPr>
              <a:t>Code Example</a:t>
            </a:r>
          </a:p>
        </p:txBody>
      </p:sp>
      <p:sp>
        <p:nvSpPr>
          <p:cNvPr id="9" name="TextBox 8">
            <a:extLst>
              <a:ext uri="{FF2B5EF4-FFF2-40B4-BE49-F238E27FC236}">
                <a16:creationId xmlns:a16="http://schemas.microsoft.com/office/drawing/2014/main" id="{ADB61A1C-0D9B-2F4C-E0AA-2A3F13C786DE}"/>
              </a:ext>
            </a:extLst>
          </p:cNvPr>
          <p:cNvSpPr txBox="1"/>
          <p:nvPr/>
        </p:nvSpPr>
        <p:spPr>
          <a:xfrm>
            <a:off x="6439146" y="2889186"/>
            <a:ext cx="3749040" cy="461665"/>
          </a:xfrm>
          <a:prstGeom prst="rect">
            <a:avLst/>
          </a:prstGeom>
          <a:noFill/>
        </p:spPr>
        <p:txBody>
          <a:bodyPr wrap="square">
            <a:spAutoFit/>
          </a:bodyPr>
          <a:lstStyle/>
          <a:p>
            <a:r>
              <a:rPr lang="en-US" sz="1200" b="1" dirty="0">
                <a:solidFill>
                  <a:srgbClr val="FFFFFF"/>
                </a:solidFill>
                <a:latin typeface="Consolas"/>
              </a:rPr>
              <a:t>class </a:t>
            </a:r>
            <a:r>
              <a:rPr lang="en-US" sz="1200" b="1" dirty="0" err="1">
                <a:solidFill>
                  <a:srgbClr val="FFFFFF"/>
                </a:solidFill>
                <a:latin typeface="Consolas"/>
              </a:rPr>
              <a:t>EmpAnalysis</a:t>
            </a:r>
            <a:r>
              <a:rPr lang="en-US" sz="1200" b="1" dirty="0">
                <a:solidFill>
                  <a:srgbClr val="FFFFFF"/>
                </a:solidFill>
                <a:latin typeface="Consolas"/>
              </a:rPr>
              <a:t>:</a:t>
            </a:r>
            <a:br>
              <a:rPr lang="en-US" sz="1200" b="1" dirty="0"/>
            </a:br>
            <a:r>
              <a:rPr lang="en-US" sz="1200" b="1" dirty="0">
                <a:solidFill>
                  <a:srgbClr val="FFFFFF"/>
                </a:solidFill>
                <a:latin typeface="Consolas"/>
              </a:rPr>
              <a:t>    </a:t>
            </a:r>
            <a:endParaRPr lang="en-US" dirty="0"/>
          </a:p>
        </p:txBody>
      </p:sp>
      <p:sp>
        <p:nvSpPr>
          <p:cNvPr id="10" name="TextBox 9">
            <a:extLst>
              <a:ext uri="{FF2B5EF4-FFF2-40B4-BE49-F238E27FC236}">
                <a16:creationId xmlns:a16="http://schemas.microsoft.com/office/drawing/2014/main" id="{CB0F1B80-5692-FDE0-2494-6576F96AA471}"/>
              </a:ext>
            </a:extLst>
          </p:cNvPr>
          <p:cNvSpPr txBox="1"/>
          <p:nvPr/>
        </p:nvSpPr>
        <p:spPr>
          <a:xfrm>
            <a:off x="6439146" y="3348393"/>
            <a:ext cx="3749040" cy="830997"/>
          </a:xfrm>
          <a:prstGeom prst="rect">
            <a:avLst/>
          </a:prstGeom>
          <a:noFill/>
        </p:spPr>
        <p:txBody>
          <a:bodyPr wrap="square">
            <a:spAutoFit/>
          </a:bodyPr>
          <a:lstStyle/>
          <a:p>
            <a:br>
              <a:rPr lang="en-US" sz="1200" b="1" dirty="0"/>
            </a:br>
            <a:r>
              <a:rPr lang="en-US" sz="1200" b="1" dirty="0">
                <a:solidFill>
                  <a:srgbClr val="FFFFFF"/>
                </a:solidFill>
                <a:latin typeface="Consolas"/>
              </a:rPr>
              <a:t>def __</a:t>
            </a:r>
            <a:r>
              <a:rPr lang="en-US" sz="1200" b="1" dirty="0" err="1">
                <a:solidFill>
                  <a:srgbClr val="FFFFFF"/>
                </a:solidFill>
                <a:latin typeface="Consolas"/>
              </a:rPr>
              <a:t>init</a:t>
            </a:r>
            <a:r>
              <a:rPr lang="en-US" sz="1200" b="1" dirty="0">
                <a:solidFill>
                  <a:srgbClr val="FFFFFF"/>
                </a:solidFill>
                <a:latin typeface="Consolas"/>
              </a:rPr>
              <a:t>__(self):</a:t>
            </a:r>
            <a:br>
              <a:rPr lang="en-US" sz="1200" b="1" dirty="0"/>
            </a:br>
            <a:r>
              <a:rPr lang="en-US" sz="1200" b="1" dirty="0">
                <a:solidFill>
                  <a:srgbClr val="FFFFFF"/>
                </a:solidFill>
                <a:latin typeface="Consolas"/>
              </a:rPr>
              <a:t>     </a:t>
            </a:r>
            <a:r>
              <a:rPr lang="en-US" sz="1200" b="1" dirty="0" err="1">
                <a:solidFill>
                  <a:srgbClr val="FFFFFF"/>
                </a:solidFill>
                <a:latin typeface="Consolas"/>
              </a:rPr>
              <a:t>self.sales</a:t>
            </a:r>
            <a:r>
              <a:rPr lang="en-US" sz="1200" b="1" dirty="0">
                <a:solidFill>
                  <a:srgbClr val="FFFFFF"/>
                </a:solidFill>
                <a:latin typeface="Consolas"/>
              </a:rPr>
              <a:t> =       	</a:t>
            </a:r>
            <a:r>
              <a:rPr lang="en-US" sz="1200" b="1" dirty="0" err="1">
                <a:solidFill>
                  <a:srgbClr val="FFFFFF"/>
                </a:solidFill>
                <a:latin typeface="Consolas"/>
              </a:rPr>
              <a:t>pd.read_csv</a:t>
            </a:r>
            <a:r>
              <a:rPr lang="en-US" sz="1200" b="1" dirty="0">
                <a:solidFill>
                  <a:srgbClr val="FFFFFF"/>
                </a:solidFill>
                <a:latin typeface="Consolas"/>
              </a:rPr>
              <a:t>('StoreSales.csv')</a:t>
            </a:r>
            <a:endParaRPr lang="en-US" dirty="0"/>
          </a:p>
        </p:txBody>
      </p:sp>
      <p:sp>
        <p:nvSpPr>
          <p:cNvPr id="11" name="TextBox 10">
            <a:extLst>
              <a:ext uri="{FF2B5EF4-FFF2-40B4-BE49-F238E27FC236}">
                <a16:creationId xmlns:a16="http://schemas.microsoft.com/office/drawing/2014/main" id="{D8BCBA99-5576-FCE7-245B-CA2EF5F76C6C}"/>
              </a:ext>
            </a:extLst>
          </p:cNvPr>
          <p:cNvSpPr txBox="1"/>
          <p:nvPr/>
        </p:nvSpPr>
        <p:spPr>
          <a:xfrm>
            <a:off x="6439146" y="4223098"/>
            <a:ext cx="3749040" cy="1015663"/>
          </a:xfrm>
          <a:prstGeom prst="rect">
            <a:avLst/>
          </a:prstGeom>
          <a:noFill/>
        </p:spPr>
        <p:txBody>
          <a:bodyPr wrap="square">
            <a:spAutoFit/>
          </a:bodyPr>
          <a:lstStyle/>
          <a:p>
            <a:endParaRPr lang="en-US" sz="1200" b="1" dirty="0">
              <a:solidFill>
                <a:srgbClr val="FFFFFF"/>
              </a:solidFill>
              <a:latin typeface="Consolas"/>
            </a:endParaRPr>
          </a:p>
          <a:p>
            <a:r>
              <a:rPr lang="en-US" sz="1200" b="1" dirty="0">
                <a:solidFill>
                  <a:srgbClr val="FFFFFF"/>
                </a:solidFill>
                <a:latin typeface="Consolas"/>
              </a:rPr>
              <a:t>def </a:t>
            </a:r>
            <a:r>
              <a:rPr lang="en-US" sz="1200" b="1" dirty="0" err="1">
                <a:solidFill>
                  <a:srgbClr val="FFFFFF"/>
                </a:solidFill>
                <a:latin typeface="Consolas"/>
              </a:rPr>
              <a:t>preview_data</a:t>
            </a:r>
            <a:r>
              <a:rPr lang="en-US" sz="1200" b="1" dirty="0">
                <a:solidFill>
                  <a:srgbClr val="FFFFFF"/>
                </a:solidFill>
                <a:latin typeface="Consolas"/>
              </a:rPr>
              <a:t>(self):                	print("\</a:t>
            </a:r>
            <a:r>
              <a:rPr lang="en-US" sz="1200" b="1" dirty="0" err="1">
                <a:solidFill>
                  <a:srgbClr val="FFFFFF"/>
                </a:solidFill>
                <a:latin typeface="Consolas"/>
              </a:rPr>
              <a:t>nCustomers</a:t>
            </a:r>
            <a:r>
              <a:rPr lang="en-US" sz="1200" b="1" dirty="0">
                <a:solidFill>
                  <a:srgbClr val="FFFFFF"/>
                </a:solidFill>
                <a:latin typeface="Consolas"/>
              </a:rPr>
              <a:t> List ")        	print(</a:t>
            </a:r>
            <a:r>
              <a:rPr lang="en-US" sz="1200" b="1" dirty="0" err="1">
                <a:solidFill>
                  <a:srgbClr val="FFFFFF"/>
                </a:solidFill>
                <a:latin typeface="Consolas"/>
              </a:rPr>
              <a:t>self.customer_list.head</a:t>
            </a:r>
            <a:r>
              <a:rPr lang="en-US" sz="1200" b="1" dirty="0">
                <a:solidFill>
                  <a:srgbClr val="FFFFFF"/>
                </a:solidFill>
                <a:latin typeface="Consolas"/>
              </a:rPr>
              <a:t>())</a:t>
            </a:r>
            <a:endParaRPr lang="en-US" dirty="0"/>
          </a:p>
        </p:txBody>
      </p:sp>
      <p:sp>
        <p:nvSpPr>
          <p:cNvPr id="12" name="TextBox 11">
            <a:extLst>
              <a:ext uri="{FF2B5EF4-FFF2-40B4-BE49-F238E27FC236}">
                <a16:creationId xmlns:a16="http://schemas.microsoft.com/office/drawing/2014/main" id="{DC2E8E86-91BE-D119-4654-FE0E8A87C86D}"/>
              </a:ext>
            </a:extLst>
          </p:cNvPr>
          <p:cNvSpPr txBox="1"/>
          <p:nvPr/>
        </p:nvSpPr>
        <p:spPr>
          <a:xfrm>
            <a:off x="6439146" y="5025054"/>
            <a:ext cx="3749040" cy="830997"/>
          </a:xfrm>
          <a:prstGeom prst="rect">
            <a:avLst/>
          </a:prstGeom>
          <a:noFill/>
        </p:spPr>
        <p:txBody>
          <a:bodyPr wrap="square">
            <a:spAutoFit/>
          </a:bodyPr>
          <a:lstStyle/>
          <a:p>
            <a:endParaRPr lang="en-US" sz="1200" b="1" dirty="0">
              <a:solidFill>
                <a:srgbClr val="FFFFFF"/>
              </a:solidFill>
              <a:latin typeface="Consolas"/>
            </a:endParaRPr>
          </a:p>
          <a:p>
            <a:r>
              <a:rPr lang="en-US" sz="1200" b="1" dirty="0" err="1">
                <a:solidFill>
                  <a:srgbClr val="FFFFFF"/>
                </a:solidFill>
                <a:latin typeface="Consolas"/>
              </a:rPr>
              <a:t>data_info</a:t>
            </a:r>
            <a:r>
              <a:rPr lang="en-US" sz="1200" b="1" dirty="0">
                <a:solidFill>
                  <a:srgbClr val="FFFFFF"/>
                </a:solidFill>
                <a:latin typeface="Consolas"/>
              </a:rPr>
              <a:t> = </a:t>
            </a:r>
            <a:r>
              <a:rPr lang="en-US" sz="1200" b="1" dirty="0" err="1">
                <a:solidFill>
                  <a:srgbClr val="FFFFFF"/>
                </a:solidFill>
                <a:latin typeface="Consolas"/>
              </a:rPr>
              <a:t>EmpAnalysis</a:t>
            </a:r>
            <a:r>
              <a:rPr lang="en-US" sz="1200" b="1" dirty="0">
                <a:solidFill>
                  <a:srgbClr val="FFFFFF"/>
                </a:solidFill>
                <a:latin typeface="Consolas"/>
              </a:rPr>
              <a:t>()</a:t>
            </a:r>
          </a:p>
          <a:p>
            <a:r>
              <a:rPr lang="en-US" sz="1200" b="1" dirty="0" err="1">
                <a:solidFill>
                  <a:srgbClr val="FFFFFF"/>
                </a:solidFill>
                <a:latin typeface="Consolas"/>
              </a:rPr>
              <a:t>data_info.preview_data</a:t>
            </a:r>
            <a:r>
              <a:rPr lang="en-US" sz="1200" b="1" dirty="0">
                <a:solidFill>
                  <a:srgbClr val="FFFFFF"/>
                </a:solidFill>
                <a:latin typeface="Consolas"/>
              </a:rPr>
              <a:t>()</a:t>
            </a:r>
          </a:p>
          <a:p>
            <a:r>
              <a:rPr lang="en-US" sz="1200" b="1" dirty="0" err="1">
                <a:solidFill>
                  <a:srgbClr val="FFFFFF"/>
                </a:solidFill>
                <a:latin typeface="Consolas"/>
              </a:rPr>
              <a:t>data_info.tableinfo</a:t>
            </a:r>
            <a:r>
              <a:rPr lang="en-US" sz="1200" b="1" dirty="0">
                <a:solidFill>
                  <a:srgbClr val="FFFFFF"/>
                </a:solidFill>
                <a:latin typeface="Consolas"/>
              </a:rPr>
              <a:t>()</a:t>
            </a:r>
            <a:endParaRPr lang="en-US" dirty="0"/>
          </a:p>
        </p:txBody>
      </p:sp>
    </p:spTree>
    <p:extLst>
      <p:ext uri="{BB962C8B-B14F-4D97-AF65-F5344CB8AC3E}">
        <p14:creationId xmlns:p14="http://schemas.microsoft.com/office/powerpoint/2010/main" val="740417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D848D-3F36-E651-DB7F-7817B0733A13}"/>
              </a:ext>
            </a:extLst>
          </p:cNvPr>
          <p:cNvSpPr>
            <a:spLocks noGrp="1"/>
          </p:cNvSpPr>
          <p:nvPr>
            <p:ph type="title"/>
          </p:nvPr>
        </p:nvSpPr>
        <p:spPr/>
        <p:txBody>
          <a:bodyPr/>
          <a:lstStyle/>
          <a:p>
            <a:r>
              <a:rPr lang="en-US" dirty="0"/>
              <a:t>Territory Analysis</a:t>
            </a:r>
          </a:p>
        </p:txBody>
      </p:sp>
      <p:sp>
        <p:nvSpPr>
          <p:cNvPr id="4" name="Content Placeholder 3">
            <a:extLst>
              <a:ext uri="{FF2B5EF4-FFF2-40B4-BE49-F238E27FC236}">
                <a16:creationId xmlns:a16="http://schemas.microsoft.com/office/drawing/2014/main" id="{B8378D06-4508-9DD8-473C-2083BB57223C}"/>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355668"/>
            <a:ext cx="5181600" cy="4533900"/>
          </a:xfrm>
        </p:spPr>
        <p:txBody>
          <a:bodyPr/>
          <a:lstStyle/>
          <a:p>
            <a:r>
              <a:rPr lang="en-US" dirty="0"/>
              <a:t>The analysis identified all stores located within the assigned sales territories of Colorado and South Carolina. Colorado stores are managed by Jim Heck, while South Carolina stores are managed by Len Jensen.</a:t>
            </a:r>
          </a:p>
          <a:p>
            <a:r>
              <a:rPr lang="en-US" dirty="0"/>
              <a:t>The filtered data frame displayed the territory manager, store ID, and city location for each assigned store. A total of 18 stores were identified in Colorado, and 2 stores were identified in South Carolina.</a:t>
            </a:r>
          </a:p>
          <a:p>
            <a:pPr>
              <a:buFont typeface="Arial" panose="020B0604020202020204" pitchFamily="34" charset="0"/>
              <a:buChar char="•"/>
            </a:pPr>
            <a:endParaRPr lang="en-US" dirty="0"/>
          </a:p>
        </p:txBody>
      </p:sp>
      <p:sp>
        <p:nvSpPr>
          <p:cNvPr id="13" name="Rectangle 12">
            <a:extLst>
              <a:ext uri="{FF2B5EF4-FFF2-40B4-BE49-F238E27FC236}">
                <a16:creationId xmlns:a16="http://schemas.microsoft.com/office/drawing/2014/main" id="{0EB7B478-FBDF-2FD7-7ED5-A41EE75E19A9}"/>
              </a:ext>
            </a:extLst>
          </p:cNvPr>
          <p:cNvSpPr/>
          <p:nvPr/>
        </p:nvSpPr>
        <p:spPr>
          <a:xfrm>
            <a:off x="6784258" y="1355668"/>
            <a:ext cx="5407742" cy="5502332"/>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C28CB2CD-B96E-2C2F-3E98-7EF6756FCA54}"/>
              </a:ext>
            </a:extLst>
          </p:cNvPr>
          <p:cNvSpPr txBox="1"/>
          <p:nvPr/>
        </p:nvSpPr>
        <p:spPr>
          <a:xfrm>
            <a:off x="7103806" y="2027328"/>
            <a:ext cx="4768645" cy="1015663"/>
          </a:xfrm>
          <a:prstGeom prst="rect">
            <a:avLst/>
          </a:prstGeom>
          <a:noFill/>
        </p:spPr>
        <p:txBody>
          <a:bodyPr wrap="square">
            <a:spAutoFit/>
          </a:bodyPr>
          <a:lstStyle/>
          <a:p>
            <a:r>
              <a:rPr lang="en-US" sz="1200" b="1" dirty="0">
                <a:solidFill>
                  <a:srgbClr val="FFFFFF"/>
                </a:solidFill>
                <a:latin typeface="Consolas"/>
              </a:rPr>
              <a:t># Filter Territories</a:t>
            </a:r>
          </a:p>
          <a:p>
            <a:endParaRPr lang="en-US" sz="1200" b="1" dirty="0">
              <a:solidFill>
                <a:srgbClr val="FFFFFF"/>
              </a:solidFill>
              <a:latin typeface="Consolas"/>
            </a:endParaRPr>
          </a:p>
          <a:p>
            <a:r>
              <a:rPr lang="en-US" sz="1200" b="1" dirty="0" err="1">
                <a:solidFill>
                  <a:srgbClr val="FFFFFF"/>
                </a:solidFill>
                <a:latin typeface="Consolas"/>
              </a:rPr>
              <a:t>self.filtered_territory_data</a:t>
            </a:r>
            <a:r>
              <a:rPr lang="en-US" sz="1200" b="1" dirty="0">
                <a:solidFill>
                  <a:srgbClr val="FFFFFF"/>
                </a:solidFill>
                <a:latin typeface="Consolas"/>
              </a:rPr>
              <a:t> = </a:t>
            </a:r>
            <a:r>
              <a:rPr lang="en-US" sz="1200" b="1" dirty="0" err="1">
                <a:solidFill>
                  <a:srgbClr val="FFFFFF"/>
                </a:solidFill>
                <a:latin typeface="Consolas"/>
              </a:rPr>
              <a:t>self.storedetails</a:t>
            </a:r>
            <a:r>
              <a:rPr lang="en-US" sz="1200" b="1" dirty="0">
                <a:solidFill>
                  <a:srgbClr val="FFFFFF"/>
                </a:solidFill>
                <a:latin typeface="Consolas"/>
              </a:rPr>
              <a:t>[</a:t>
            </a:r>
          </a:p>
          <a:p>
            <a:r>
              <a:rPr lang="en-US" sz="1200" b="1" dirty="0">
                <a:solidFill>
                  <a:srgbClr val="FFFFFF"/>
                </a:solidFill>
                <a:latin typeface="Consolas"/>
              </a:rPr>
              <a:t>    (</a:t>
            </a:r>
            <a:r>
              <a:rPr lang="en-US" sz="1200" b="1" dirty="0" err="1">
                <a:solidFill>
                  <a:srgbClr val="FFFFFF"/>
                </a:solidFill>
                <a:latin typeface="Consolas"/>
              </a:rPr>
              <a:t>self.storedetails</a:t>
            </a:r>
            <a:r>
              <a:rPr lang="en-US" sz="1200" b="1" dirty="0">
                <a:solidFill>
                  <a:srgbClr val="FFFFFF"/>
                </a:solidFill>
                <a:latin typeface="Consolas"/>
              </a:rPr>
              <a:t>["State"] == "Colorado") |</a:t>
            </a:r>
          </a:p>
          <a:p>
            <a:r>
              <a:rPr lang="en-US" sz="1200" b="1" dirty="0">
                <a:solidFill>
                  <a:srgbClr val="FFFFFF"/>
                </a:solidFill>
                <a:latin typeface="Consolas"/>
              </a:rPr>
              <a:t>    (</a:t>
            </a:r>
            <a:r>
              <a:rPr lang="en-US" sz="1200" b="1" dirty="0" err="1">
                <a:solidFill>
                  <a:srgbClr val="FFFFFF"/>
                </a:solidFill>
                <a:latin typeface="Consolas"/>
              </a:rPr>
              <a:t>self.storedetails</a:t>
            </a:r>
            <a:r>
              <a:rPr lang="en-US" sz="1200" b="1" dirty="0">
                <a:solidFill>
                  <a:srgbClr val="FFFFFF"/>
                </a:solidFill>
                <a:latin typeface="Consolas"/>
              </a:rPr>
              <a:t>["State"] == "South Carolina") ]</a:t>
            </a:r>
            <a:endParaRPr lang="en-US" dirty="0"/>
          </a:p>
        </p:txBody>
      </p:sp>
      <p:sp>
        <p:nvSpPr>
          <p:cNvPr id="15" name="TextBox 14">
            <a:extLst>
              <a:ext uri="{FF2B5EF4-FFF2-40B4-BE49-F238E27FC236}">
                <a16:creationId xmlns:a16="http://schemas.microsoft.com/office/drawing/2014/main" id="{0B31E09D-752F-56D4-4294-395B4E4DEF1E}"/>
              </a:ext>
            </a:extLst>
          </p:cNvPr>
          <p:cNvSpPr txBox="1"/>
          <p:nvPr/>
        </p:nvSpPr>
        <p:spPr>
          <a:xfrm>
            <a:off x="8633460" y="1455928"/>
            <a:ext cx="1546449" cy="338554"/>
          </a:xfrm>
          <a:prstGeom prst="rect">
            <a:avLst/>
          </a:prstGeom>
          <a:noFill/>
        </p:spPr>
        <p:txBody>
          <a:bodyPr wrap="none">
            <a:spAutoFit/>
          </a:bodyPr>
          <a:lstStyle/>
          <a:p>
            <a:r>
              <a:rPr sz="1600" b="1" dirty="0">
                <a:solidFill>
                  <a:srgbClr val="0066CC"/>
                </a:solidFill>
              </a:rPr>
              <a:t>Code Example</a:t>
            </a:r>
          </a:p>
        </p:txBody>
      </p:sp>
      <p:sp>
        <p:nvSpPr>
          <p:cNvPr id="16" name="TextBox 15">
            <a:extLst>
              <a:ext uri="{FF2B5EF4-FFF2-40B4-BE49-F238E27FC236}">
                <a16:creationId xmlns:a16="http://schemas.microsoft.com/office/drawing/2014/main" id="{FDFE5AE6-78E5-4BA2-526F-C0901E88E55F}"/>
              </a:ext>
            </a:extLst>
          </p:cNvPr>
          <p:cNvSpPr txBox="1"/>
          <p:nvPr/>
        </p:nvSpPr>
        <p:spPr>
          <a:xfrm>
            <a:off x="7103805" y="3150002"/>
            <a:ext cx="4768645" cy="1200329"/>
          </a:xfrm>
          <a:prstGeom prst="rect">
            <a:avLst/>
          </a:prstGeom>
          <a:noFill/>
        </p:spPr>
        <p:txBody>
          <a:bodyPr wrap="square">
            <a:spAutoFit/>
          </a:bodyPr>
          <a:lstStyle/>
          <a:p>
            <a:r>
              <a:rPr lang="en-US" sz="1200" b="1" dirty="0">
                <a:solidFill>
                  <a:srgbClr val="FFFFFF"/>
                </a:solidFill>
                <a:latin typeface="Consolas"/>
              </a:rPr>
              <a:t># Filter Columns</a:t>
            </a:r>
          </a:p>
          <a:p>
            <a:endParaRPr lang="en-US" sz="1200" b="1" dirty="0">
              <a:solidFill>
                <a:srgbClr val="FFFFFF"/>
              </a:solidFill>
              <a:latin typeface="Consolas"/>
            </a:endParaRPr>
          </a:p>
          <a:p>
            <a:r>
              <a:rPr lang="en-US" sz="1200" b="1" dirty="0" err="1">
                <a:solidFill>
                  <a:srgbClr val="FFFFFF"/>
                </a:solidFill>
                <a:latin typeface="Consolas"/>
              </a:rPr>
              <a:t>self.filtered_territory_columns</a:t>
            </a:r>
            <a:r>
              <a:rPr lang="en-US" sz="1200" b="1" dirty="0">
                <a:solidFill>
                  <a:srgbClr val="FFFFFF"/>
                </a:solidFill>
                <a:latin typeface="Consolas"/>
              </a:rPr>
              <a:t> = </a:t>
            </a:r>
            <a:r>
              <a:rPr lang="en-US" sz="1200" b="1" dirty="0" err="1">
                <a:solidFill>
                  <a:srgbClr val="FFFFFF"/>
                </a:solidFill>
                <a:latin typeface="Consolas"/>
              </a:rPr>
              <a:t>self.filtered_territory_data</a:t>
            </a:r>
            <a:r>
              <a:rPr lang="en-US" sz="1200" b="1" dirty="0">
                <a:solidFill>
                  <a:srgbClr val="FFFFFF"/>
                </a:solidFill>
                <a:latin typeface="Consolas"/>
              </a:rPr>
              <a:t>[</a:t>
            </a:r>
          </a:p>
          <a:p>
            <a:r>
              <a:rPr lang="en-US" sz="1200" b="1" dirty="0">
                <a:solidFill>
                  <a:srgbClr val="FFFFFF"/>
                </a:solidFill>
                <a:latin typeface="Consolas"/>
              </a:rPr>
              <a:t>    ["Store </a:t>
            </a:r>
            <a:r>
              <a:rPr lang="en-US" sz="1200" b="1" dirty="0" err="1">
                <a:solidFill>
                  <a:srgbClr val="FFFFFF"/>
                </a:solidFill>
                <a:latin typeface="Consolas"/>
              </a:rPr>
              <a:t>Location","State","Store</a:t>
            </a:r>
            <a:r>
              <a:rPr lang="en-US" sz="1200" b="1" dirty="0">
                <a:solidFill>
                  <a:srgbClr val="FFFFFF"/>
                </a:solidFill>
                <a:latin typeface="Consolas"/>
              </a:rPr>
              <a:t> </a:t>
            </a:r>
            <a:r>
              <a:rPr lang="en-US" sz="1200" b="1" dirty="0" err="1">
                <a:solidFill>
                  <a:srgbClr val="FFFFFF"/>
                </a:solidFill>
                <a:latin typeface="Consolas"/>
              </a:rPr>
              <a:t>ID","Territory</a:t>
            </a:r>
            <a:r>
              <a:rPr lang="en-US" sz="1200" b="1" dirty="0">
                <a:solidFill>
                  <a:srgbClr val="FFFFFF"/>
                </a:solidFill>
                <a:latin typeface="Consolas"/>
              </a:rPr>
              <a:t> Manager"]]</a:t>
            </a:r>
          </a:p>
        </p:txBody>
      </p:sp>
      <p:sp>
        <p:nvSpPr>
          <p:cNvPr id="17" name="TextBox 16">
            <a:extLst>
              <a:ext uri="{FF2B5EF4-FFF2-40B4-BE49-F238E27FC236}">
                <a16:creationId xmlns:a16="http://schemas.microsoft.com/office/drawing/2014/main" id="{63260E63-B175-4ACE-7A5A-73B8A97CE819}"/>
              </a:ext>
            </a:extLst>
          </p:cNvPr>
          <p:cNvSpPr txBox="1"/>
          <p:nvPr/>
        </p:nvSpPr>
        <p:spPr>
          <a:xfrm>
            <a:off x="7103805" y="4555117"/>
            <a:ext cx="4768645" cy="2123658"/>
          </a:xfrm>
          <a:prstGeom prst="rect">
            <a:avLst/>
          </a:prstGeom>
          <a:noFill/>
        </p:spPr>
        <p:txBody>
          <a:bodyPr wrap="square">
            <a:spAutoFit/>
          </a:bodyPr>
          <a:lstStyle/>
          <a:p>
            <a:r>
              <a:rPr lang="en-US" sz="1200" b="1" dirty="0">
                <a:solidFill>
                  <a:srgbClr val="FFFFFF"/>
                </a:solidFill>
                <a:latin typeface="Consolas"/>
              </a:rPr>
              <a:t># Printing Results</a:t>
            </a:r>
          </a:p>
          <a:p>
            <a:endParaRPr lang="en-US" sz="1200" b="1" dirty="0">
              <a:solidFill>
                <a:srgbClr val="FFFFFF"/>
              </a:solidFill>
              <a:latin typeface="Consolas"/>
            </a:endParaRPr>
          </a:p>
          <a:p>
            <a:r>
              <a:rPr lang="en-US" sz="1200" b="1" dirty="0">
                <a:solidFill>
                  <a:srgbClr val="FFFFFF"/>
                </a:solidFill>
                <a:latin typeface="Consolas"/>
              </a:rPr>
              <a:t>for index, x in </a:t>
            </a:r>
            <a:r>
              <a:rPr lang="en-US" sz="1200" b="1" dirty="0" err="1">
                <a:solidFill>
                  <a:srgbClr val="FFFFFF"/>
                </a:solidFill>
                <a:latin typeface="Consolas"/>
              </a:rPr>
              <a:t>self.filtered_territory_columns.iterrows</a:t>
            </a:r>
            <a:r>
              <a:rPr lang="en-US" sz="1200" b="1" dirty="0">
                <a:solidFill>
                  <a:srgbClr val="FFFFFF"/>
                </a:solidFill>
                <a:latin typeface="Consolas"/>
              </a:rPr>
              <a:t>():</a:t>
            </a:r>
          </a:p>
          <a:p>
            <a:endParaRPr lang="en-US" sz="1200" b="1" dirty="0">
              <a:solidFill>
                <a:srgbClr val="FFFFFF"/>
              </a:solidFill>
              <a:latin typeface="Consolas"/>
            </a:endParaRPr>
          </a:p>
          <a:p>
            <a:r>
              <a:rPr lang="en-US" sz="1200" b="1" dirty="0">
                <a:solidFill>
                  <a:srgbClr val="FFFFFF"/>
                </a:solidFill>
                <a:latin typeface="Consolas"/>
              </a:rPr>
              <a:t>    print(</a:t>
            </a:r>
          </a:p>
          <a:p>
            <a:r>
              <a:rPr lang="en-US" sz="1200" b="1" dirty="0">
                <a:solidFill>
                  <a:srgbClr val="FFFFFF"/>
                </a:solidFill>
                <a:latin typeface="Consolas"/>
              </a:rPr>
              <a:t>        f"\</a:t>
            </a:r>
            <a:r>
              <a:rPr lang="en-US" sz="1200" b="1" dirty="0" err="1">
                <a:solidFill>
                  <a:srgbClr val="FFFFFF"/>
                </a:solidFill>
                <a:latin typeface="Consolas"/>
              </a:rPr>
              <a:t>nState</a:t>
            </a:r>
            <a:r>
              <a:rPr lang="en-US" sz="1200" b="1" dirty="0">
                <a:solidFill>
                  <a:srgbClr val="FFFFFF"/>
                </a:solidFill>
                <a:latin typeface="Consolas"/>
              </a:rPr>
              <a:t>: {x['State']}"</a:t>
            </a:r>
          </a:p>
          <a:p>
            <a:r>
              <a:rPr lang="en-US" sz="1200" b="1" dirty="0">
                <a:solidFill>
                  <a:srgbClr val="FFFFFF"/>
                </a:solidFill>
                <a:latin typeface="Consolas"/>
              </a:rPr>
              <a:t>        f"\</a:t>
            </a:r>
            <a:r>
              <a:rPr lang="en-US" sz="1200" b="1" dirty="0" err="1">
                <a:solidFill>
                  <a:srgbClr val="FFFFFF"/>
                </a:solidFill>
                <a:latin typeface="Consolas"/>
              </a:rPr>
              <a:t>nTerritory</a:t>
            </a:r>
            <a:r>
              <a:rPr lang="en-US" sz="1200" b="1" dirty="0">
                <a:solidFill>
                  <a:srgbClr val="FFFFFF"/>
                </a:solidFill>
                <a:latin typeface="Consolas"/>
              </a:rPr>
              <a:t> Manager: {x['Territory      	Manager']}"</a:t>
            </a:r>
          </a:p>
          <a:p>
            <a:r>
              <a:rPr lang="en-US" sz="1200" b="1" dirty="0">
                <a:solidFill>
                  <a:srgbClr val="FFFFFF"/>
                </a:solidFill>
                <a:latin typeface="Consolas"/>
              </a:rPr>
              <a:t>        f"\</a:t>
            </a:r>
            <a:r>
              <a:rPr lang="en-US" sz="1200" b="1" dirty="0" err="1">
                <a:solidFill>
                  <a:srgbClr val="FFFFFF"/>
                </a:solidFill>
                <a:latin typeface="Consolas"/>
              </a:rPr>
              <a:t>nStore</a:t>
            </a:r>
            <a:r>
              <a:rPr lang="en-US" sz="1200" b="1" dirty="0">
                <a:solidFill>
                  <a:srgbClr val="FFFFFF"/>
                </a:solidFill>
                <a:latin typeface="Consolas"/>
              </a:rPr>
              <a:t> ID: {x['Store ID']}"</a:t>
            </a:r>
          </a:p>
          <a:p>
            <a:r>
              <a:rPr lang="en-US" sz="1200" b="1" dirty="0">
                <a:solidFill>
                  <a:srgbClr val="FFFFFF"/>
                </a:solidFill>
                <a:latin typeface="Consolas"/>
              </a:rPr>
              <a:t>        f"\</a:t>
            </a:r>
            <a:r>
              <a:rPr lang="en-US" sz="1200" b="1" dirty="0" err="1">
                <a:solidFill>
                  <a:srgbClr val="FFFFFF"/>
                </a:solidFill>
                <a:latin typeface="Consolas"/>
              </a:rPr>
              <a:t>nCity</a:t>
            </a:r>
            <a:r>
              <a:rPr lang="en-US" sz="1200" b="1" dirty="0">
                <a:solidFill>
                  <a:srgbClr val="FFFFFF"/>
                </a:solidFill>
                <a:latin typeface="Consolas"/>
              </a:rPr>
              <a:t>: {x['Store Location']}")</a:t>
            </a:r>
            <a:endParaRPr lang="en-US" dirty="0"/>
          </a:p>
        </p:txBody>
      </p:sp>
      <p:pic>
        <p:nvPicPr>
          <p:cNvPr id="19" name="Picture 18">
            <a:extLst>
              <a:ext uri="{FF2B5EF4-FFF2-40B4-BE49-F238E27FC236}">
                <a16:creationId xmlns:a16="http://schemas.microsoft.com/office/drawing/2014/main" id="{B386C8A7-1283-C74D-9A19-EEAE98CE4C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904" y="3750166"/>
            <a:ext cx="3259392" cy="2740146"/>
          </a:xfrm>
          <a:prstGeom prst="rect">
            <a:avLst/>
          </a:prstGeom>
        </p:spPr>
      </p:pic>
    </p:spTree>
    <p:extLst>
      <p:ext uri="{BB962C8B-B14F-4D97-AF65-F5344CB8AC3E}">
        <p14:creationId xmlns:p14="http://schemas.microsoft.com/office/powerpoint/2010/main" val="150405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327CC-BA3E-604C-AF54-A65DF997B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064FF-FEA6-1891-4A85-AEE2E4007F1D}"/>
              </a:ext>
            </a:extLst>
          </p:cNvPr>
          <p:cNvSpPr>
            <a:spLocks noGrp="1"/>
          </p:cNvSpPr>
          <p:nvPr>
            <p:ph type="title"/>
          </p:nvPr>
        </p:nvSpPr>
        <p:spPr/>
        <p:txBody>
          <a:bodyPr/>
          <a:lstStyle/>
          <a:p>
            <a:r>
              <a:rPr lang="en-US" dirty="0"/>
              <a:t>Monthly Territory Analysis By Year</a:t>
            </a:r>
          </a:p>
        </p:txBody>
      </p:sp>
      <p:sp>
        <p:nvSpPr>
          <p:cNvPr id="4" name="Content Placeholder 3">
            <a:extLst>
              <a:ext uri="{FF2B5EF4-FFF2-40B4-BE49-F238E27FC236}">
                <a16:creationId xmlns:a16="http://schemas.microsoft.com/office/drawing/2014/main" id="{F0DA39CC-BA7D-D7AB-2661-BAE49FEB82D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355668"/>
            <a:ext cx="5181600" cy="4533900"/>
          </a:xfrm>
        </p:spPr>
        <p:txBody>
          <a:bodyPr/>
          <a:lstStyle/>
          <a:p>
            <a:r>
              <a:rPr lang="en-US" dirty="0"/>
              <a:t>The revenue analysis shows that Colorado consistently generated significantly higher sales revenue than South Carolina from 2022–2025, making it the company’s strongest-performing territory.</a:t>
            </a:r>
          </a:p>
          <a:p>
            <a:r>
              <a:rPr lang="en-US" dirty="0"/>
              <a:t>Both territories experienced steady year-over-year growth, with the highest sales occurring during 2025, indicating expanding business performance and increasing customer demand.</a:t>
            </a:r>
          </a:p>
          <a:p>
            <a:pPr>
              <a:buFont typeface="Arial" panose="020B0604020202020204" pitchFamily="34" charset="0"/>
              <a:buChar char="•"/>
            </a:pPr>
            <a:endParaRPr lang="en-US" dirty="0"/>
          </a:p>
        </p:txBody>
      </p:sp>
      <p:sp>
        <p:nvSpPr>
          <p:cNvPr id="13" name="Rectangle 12">
            <a:extLst>
              <a:ext uri="{FF2B5EF4-FFF2-40B4-BE49-F238E27FC236}">
                <a16:creationId xmlns:a16="http://schemas.microsoft.com/office/drawing/2014/main" id="{B55725CC-370D-FAC2-EF86-0624F786235F}"/>
              </a:ext>
            </a:extLst>
          </p:cNvPr>
          <p:cNvSpPr/>
          <p:nvPr/>
        </p:nvSpPr>
        <p:spPr>
          <a:xfrm>
            <a:off x="6784258" y="1355668"/>
            <a:ext cx="5407742" cy="5502332"/>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30599D8D-D523-169C-B7DE-FF92FBE5933D}"/>
              </a:ext>
            </a:extLst>
          </p:cNvPr>
          <p:cNvSpPr txBox="1"/>
          <p:nvPr/>
        </p:nvSpPr>
        <p:spPr>
          <a:xfrm>
            <a:off x="7011213" y="4302003"/>
            <a:ext cx="4768645" cy="1200329"/>
          </a:xfrm>
          <a:prstGeom prst="rect">
            <a:avLst/>
          </a:prstGeom>
          <a:noFill/>
        </p:spPr>
        <p:txBody>
          <a:bodyPr wrap="square">
            <a:spAutoFit/>
          </a:bodyPr>
          <a:lstStyle/>
          <a:p>
            <a:r>
              <a:rPr lang="en-US" sz="1200" b="1" dirty="0">
                <a:solidFill>
                  <a:srgbClr val="FFFFFF"/>
                </a:solidFill>
                <a:latin typeface="Consolas"/>
              </a:rPr>
              <a:t># Create Month and Year column from Transaction Date</a:t>
            </a:r>
          </a:p>
          <a:p>
            <a:endParaRPr lang="en-US" sz="1200" b="1" dirty="0">
              <a:solidFill>
                <a:srgbClr val="FFFFFF"/>
              </a:solidFill>
              <a:latin typeface="Consolas"/>
            </a:endParaRPr>
          </a:p>
          <a:p>
            <a:r>
              <a:rPr lang="en-US" sz="1200" b="1" dirty="0" err="1">
                <a:solidFill>
                  <a:srgbClr val="FFFFFF"/>
                </a:solidFill>
                <a:latin typeface="Consolas"/>
              </a:rPr>
              <a:t>self.table_merge</a:t>
            </a:r>
            <a:r>
              <a:rPr lang="en-US" sz="1200" b="1" dirty="0">
                <a:solidFill>
                  <a:srgbClr val="FFFFFF"/>
                </a:solidFill>
                <a:latin typeface="Consolas"/>
              </a:rPr>
              <a:t>["Month"] = </a:t>
            </a:r>
            <a:r>
              <a:rPr lang="en-US" sz="1200" b="1" dirty="0" err="1">
                <a:solidFill>
                  <a:srgbClr val="FFFFFF"/>
                </a:solidFill>
                <a:latin typeface="Consolas"/>
              </a:rPr>
              <a:t>self.table_merge</a:t>
            </a:r>
            <a:r>
              <a:rPr lang="en-US" sz="1200" b="1" dirty="0">
                <a:solidFill>
                  <a:srgbClr val="FFFFFF"/>
                </a:solidFill>
                <a:latin typeface="Consolas"/>
              </a:rPr>
              <a:t>[        "Transaction Date"].</a:t>
            </a:r>
            <a:r>
              <a:rPr lang="en-US" sz="1200" b="1" dirty="0" err="1">
                <a:solidFill>
                  <a:srgbClr val="FFFFFF"/>
                </a:solidFill>
                <a:latin typeface="Consolas"/>
              </a:rPr>
              <a:t>dt.month_name</a:t>
            </a:r>
            <a:r>
              <a:rPr lang="en-US" sz="1200" b="1" dirty="0">
                <a:solidFill>
                  <a:srgbClr val="FFFFFF"/>
                </a:solidFill>
                <a:latin typeface="Consolas"/>
              </a:rPr>
              <a:t>()     </a:t>
            </a:r>
            <a:r>
              <a:rPr lang="en-US" sz="1200" b="1" dirty="0" err="1">
                <a:solidFill>
                  <a:srgbClr val="FFFFFF"/>
                </a:solidFill>
                <a:latin typeface="Consolas"/>
              </a:rPr>
              <a:t>self.table_merge</a:t>
            </a:r>
            <a:r>
              <a:rPr lang="en-US" sz="1200" b="1" dirty="0">
                <a:solidFill>
                  <a:srgbClr val="FFFFFF"/>
                </a:solidFill>
                <a:latin typeface="Consolas"/>
              </a:rPr>
              <a:t>["Year"] = </a:t>
            </a:r>
            <a:r>
              <a:rPr lang="en-US" sz="1200" b="1" dirty="0" err="1">
                <a:solidFill>
                  <a:srgbClr val="FFFFFF"/>
                </a:solidFill>
                <a:latin typeface="Consolas"/>
              </a:rPr>
              <a:t>self.table_merge</a:t>
            </a:r>
            <a:r>
              <a:rPr lang="en-US" sz="1200" b="1" dirty="0">
                <a:solidFill>
                  <a:srgbClr val="FFFFFF"/>
                </a:solidFill>
                <a:latin typeface="Consolas"/>
              </a:rPr>
              <a:t>[        "Transaction Date"].</a:t>
            </a:r>
            <a:r>
              <a:rPr lang="en-US" sz="1200" b="1" dirty="0" err="1">
                <a:solidFill>
                  <a:srgbClr val="FFFFFF"/>
                </a:solidFill>
                <a:latin typeface="Consolas"/>
              </a:rPr>
              <a:t>dt.year</a:t>
            </a:r>
            <a:endParaRPr lang="en-US" dirty="0"/>
          </a:p>
        </p:txBody>
      </p:sp>
      <p:sp>
        <p:nvSpPr>
          <p:cNvPr id="15" name="TextBox 14">
            <a:extLst>
              <a:ext uri="{FF2B5EF4-FFF2-40B4-BE49-F238E27FC236}">
                <a16:creationId xmlns:a16="http://schemas.microsoft.com/office/drawing/2014/main" id="{D9A7F3D5-E622-D609-ED1C-1074C2B95B09}"/>
              </a:ext>
            </a:extLst>
          </p:cNvPr>
          <p:cNvSpPr txBox="1"/>
          <p:nvPr/>
        </p:nvSpPr>
        <p:spPr>
          <a:xfrm>
            <a:off x="8633460" y="1455928"/>
            <a:ext cx="1546449" cy="338554"/>
          </a:xfrm>
          <a:prstGeom prst="rect">
            <a:avLst/>
          </a:prstGeom>
          <a:noFill/>
        </p:spPr>
        <p:txBody>
          <a:bodyPr wrap="none">
            <a:spAutoFit/>
          </a:bodyPr>
          <a:lstStyle/>
          <a:p>
            <a:r>
              <a:rPr sz="1600" b="1" dirty="0">
                <a:solidFill>
                  <a:srgbClr val="0066CC"/>
                </a:solidFill>
              </a:rPr>
              <a:t>Code Example</a:t>
            </a:r>
          </a:p>
        </p:txBody>
      </p:sp>
      <p:sp>
        <p:nvSpPr>
          <p:cNvPr id="16" name="TextBox 15">
            <a:extLst>
              <a:ext uri="{FF2B5EF4-FFF2-40B4-BE49-F238E27FC236}">
                <a16:creationId xmlns:a16="http://schemas.microsoft.com/office/drawing/2014/main" id="{96163D96-5E3C-AC4E-E3B4-CD823E44A6E1}"/>
              </a:ext>
            </a:extLst>
          </p:cNvPr>
          <p:cNvSpPr txBox="1"/>
          <p:nvPr/>
        </p:nvSpPr>
        <p:spPr>
          <a:xfrm>
            <a:off x="7022361" y="5676721"/>
            <a:ext cx="4768645" cy="830997"/>
          </a:xfrm>
          <a:prstGeom prst="rect">
            <a:avLst/>
          </a:prstGeom>
          <a:noFill/>
        </p:spPr>
        <p:txBody>
          <a:bodyPr wrap="square">
            <a:spAutoFit/>
          </a:bodyPr>
          <a:lstStyle/>
          <a:p>
            <a:r>
              <a:rPr lang="en-US" sz="1200" b="1" dirty="0">
                <a:solidFill>
                  <a:srgbClr val="FFFFFF"/>
                </a:solidFill>
                <a:latin typeface="Consolas"/>
              </a:rPr>
              <a:t># Grouping By </a:t>
            </a:r>
            <a:r>
              <a:rPr lang="en-US" sz="1200" b="1" dirty="0" err="1">
                <a:solidFill>
                  <a:srgbClr val="FFFFFF"/>
                </a:solidFill>
                <a:latin typeface="Consolas"/>
              </a:rPr>
              <a:t>Month,State,and</a:t>
            </a:r>
            <a:r>
              <a:rPr lang="en-US" sz="1200" b="1" dirty="0">
                <a:solidFill>
                  <a:srgbClr val="FFFFFF"/>
                </a:solidFill>
                <a:latin typeface="Consolas"/>
              </a:rPr>
              <a:t> Year </a:t>
            </a:r>
          </a:p>
          <a:p>
            <a:endParaRPr lang="en-US" sz="1200" b="1" dirty="0">
              <a:solidFill>
                <a:srgbClr val="FFFFFF"/>
              </a:solidFill>
              <a:latin typeface="Consolas"/>
            </a:endParaRPr>
          </a:p>
          <a:p>
            <a:r>
              <a:rPr lang="en-US" sz="1200" b="1" dirty="0" err="1">
                <a:solidFill>
                  <a:srgbClr val="FFFFFF"/>
                </a:solidFill>
                <a:latin typeface="Consolas"/>
              </a:rPr>
              <a:t>self.grouped_merge</a:t>
            </a:r>
            <a:r>
              <a:rPr lang="en-US" sz="1200" b="1" dirty="0">
                <a:solidFill>
                  <a:srgbClr val="FFFFFF"/>
                </a:solidFill>
                <a:latin typeface="Consolas"/>
              </a:rPr>
              <a:t> = </a:t>
            </a:r>
            <a:r>
              <a:rPr lang="en-US" sz="1200" b="1" dirty="0" err="1">
                <a:solidFill>
                  <a:srgbClr val="FFFFFF"/>
                </a:solidFill>
                <a:latin typeface="Consolas"/>
              </a:rPr>
              <a:t>self.filter_merge.groupby</a:t>
            </a:r>
            <a:r>
              <a:rPr lang="en-US" sz="1200" b="1" dirty="0">
                <a:solidFill>
                  <a:srgbClr val="FFFFFF"/>
                </a:solidFill>
                <a:latin typeface="Consolas"/>
              </a:rPr>
              <a:t>(        ["</a:t>
            </a:r>
            <a:r>
              <a:rPr lang="en-US" sz="1200" b="1" dirty="0" err="1">
                <a:solidFill>
                  <a:srgbClr val="FFFFFF"/>
                </a:solidFill>
                <a:latin typeface="Consolas"/>
              </a:rPr>
              <a:t>Year","Month","State</a:t>
            </a:r>
            <a:r>
              <a:rPr lang="en-US" sz="1200" b="1" dirty="0">
                <a:solidFill>
                  <a:srgbClr val="FFFFFF"/>
                </a:solidFill>
                <a:latin typeface="Consolas"/>
              </a:rPr>
              <a:t>"])["Sale Amount"].sum()</a:t>
            </a:r>
          </a:p>
        </p:txBody>
      </p:sp>
      <p:sp>
        <p:nvSpPr>
          <p:cNvPr id="17" name="TextBox 16">
            <a:extLst>
              <a:ext uri="{FF2B5EF4-FFF2-40B4-BE49-F238E27FC236}">
                <a16:creationId xmlns:a16="http://schemas.microsoft.com/office/drawing/2014/main" id="{BFF533F0-0547-07EB-79AA-F2E62264F48F}"/>
              </a:ext>
            </a:extLst>
          </p:cNvPr>
          <p:cNvSpPr txBox="1"/>
          <p:nvPr/>
        </p:nvSpPr>
        <p:spPr>
          <a:xfrm>
            <a:off x="7011214" y="1924914"/>
            <a:ext cx="4768645" cy="830997"/>
          </a:xfrm>
          <a:prstGeom prst="rect">
            <a:avLst/>
          </a:prstGeom>
          <a:noFill/>
        </p:spPr>
        <p:txBody>
          <a:bodyPr wrap="square">
            <a:spAutoFit/>
          </a:bodyPr>
          <a:lstStyle/>
          <a:p>
            <a:r>
              <a:rPr lang="en-US" sz="1200" b="1" dirty="0">
                <a:solidFill>
                  <a:srgbClr val="FFFFFF"/>
                </a:solidFill>
                <a:latin typeface="Consolas"/>
              </a:rPr>
              <a:t># Merging </a:t>
            </a:r>
            <a:r>
              <a:rPr lang="en-US" sz="1200" b="1" dirty="0" err="1">
                <a:solidFill>
                  <a:srgbClr val="FFFFFF"/>
                </a:solidFill>
                <a:latin typeface="Consolas"/>
              </a:rPr>
              <a:t>dataframes</a:t>
            </a:r>
            <a:r>
              <a:rPr lang="en-US" sz="1200" b="1" dirty="0">
                <a:solidFill>
                  <a:srgbClr val="FFFFFF"/>
                </a:solidFill>
                <a:latin typeface="Consolas"/>
              </a:rPr>
              <a:t>(tables) using an attribute</a:t>
            </a:r>
          </a:p>
          <a:p>
            <a:endParaRPr lang="en-US" sz="1200" b="1" dirty="0">
              <a:solidFill>
                <a:srgbClr val="FFFFFF"/>
              </a:solidFill>
              <a:latin typeface="Consolas"/>
            </a:endParaRPr>
          </a:p>
          <a:p>
            <a:r>
              <a:rPr lang="en-US" sz="1200" b="1" dirty="0" err="1">
                <a:solidFill>
                  <a:srgbClr val="FFFFFF"/>
                </a:solidFill>
                <a:latin typeface="Consolas"/>
              </a:rPr>
              <a:t>self.table_merge</a:t>
            </a:r>
            <a:r>
              <a:rPr lang="en-US" sz="1200" b="1" dirty="0">
                <a:solidFill>
                  <a:srgbClr val="FFFFFF"/>
                </a:solidFill>
                <a:latin typeface="Consolas"/>
              </a:rPr>
              <a:t> = </a:t>
            </a:r>
            <a:r>
              <a:rPr lang="en-US" sz="1200" b="1" dirty="0" err="1">
                <a:solidFill>
                  <a:srgbClr val="FFFFFF"/>
                </a:solidFill>
                <a:latin typeface="Consolas"/>
              </a:rPr>
              <a:t>pd.merge</a:t>
            </a:r>
            <a:r>
              <a:rPr lang="en-US" sz="1200" b="1" dirty="0">
                <a:solidFill>
                  <a:srgbClr val="FFFFFF"/>
                </a:solidFill>
                <a:latin typeface="Consolas"/>
              </a:rPr>
              <a:t>(</a:t>
            </a:r>
            <a:r>
              <a:rPr lang="en-US" sz="1200" b="1" dirty="0" err="1">
                <a:solidFill>
                  <a:srgbClr val="FFFFFF"/>
                </a:solidFill>
                <a:latin typeface="Consolas"/>
              </a:rPr>
              <a:t>self.storedetails</a:t>
            </a:r>
            <a:r>
              <a:rPr lang="en-US" sz="1200" b="1" dirty="0">
                <a:solidFill>
                  <a:srgbClr val="FFFFFF"/>
                </a:solidFill>
                <a:latin typeface="Consolas"/>
              </a:rPr>
              <a:t>,        </a:t>
            </a:r>
            <a:r>
              <a:rPr lang="en-US" sz="1200" b="1" dirty="0" err="1">
                <a:solidFill>
                  <a:srgbClr val="FFFFFF"/>
                </a:solidFill>
                <a:latin typeface="Consolas"/>
              </a:rPr>
              <a:t>self.storesales,on</a:t>
            </a:r>
            <a:r>
              <a:rPr lang="en-US" sz="1200" b="1" dirty="0">
                <a:solidFill>
                  <a:srgbClr val="FFFFFF"/>
                </a:solidFill>
                <a:latin typeface="Consolas"/>
              </a:rPr>
              <a:t> = "Store ID")</a:t>
            </a:r>
            <a:endParaRPr lang="en-US" dirty="0"/>
          </a:p>
        </p:txBody>
      </p:sp>
      <p:pic>
        <p:nvPicPr>
          <p:cNvPr id="5" name="Picture 4">
            <a:extLst>
              <a:ext uri="{FF2B5EF4-FFF2-40B4-BE49-F238E27FC236}">
                <a16:creationId xmlns:a16="http://schemas.microsoft.com/office/drawing/2014/main" id="{A78A48D2-FDB1-9A17-87BB-F82505AA9E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1349" y="3778299"/>
            <a:ext cx="4733295" cy="2622501"/>
          </a:xfrm>
          <a:prstGeom prst="rect">
            <a:avLst/>
          </a:prstGeom>
        </p:spPr>
      </p:pic>
      <p:sp>
        <p:nvSpPr>
          <p:cNvPr id="6" name="TextBox 5">
            <a:extLst>
              <a:ext uri="{FF2B5EF4-FFF2-40B4-BE49-F238E27FC236}">
                <a16:creationId xmlns:a16="http://schemas.microsoft.com/office/drawing/2014/main" id="{561E0317-956F-5FF0-1184-E0937BD25969}"/>
              </a:ext>
            </a:extLst>
          </p:cNvPr>
          <p:cNvSpPr txBox="1"/>
          <p:nvPr/>
        </p:nvSpPr>
        <p:spPr>
          <a:xfrm>
            <a:off x="7022361" y="3149455"/>
            <a:ext cx="4768645" cy="830997"/>
          </a:xfrm>
          <a:prstGeom prst="rect">
            <a:avLst/>
          </a:prstGeom>
          <a:noFill/>
        </p:spPr>
        <p:txBody>
          <a:bodyPr wrap="square">
            <a:spAutoFit/>
          </a:bodyPr>
          <a:lstStyle/>
          <a:p>
            <a:r>
              <a:rPr lang="en-US" sz="1200" b="1" dirty="0">
                <a:solidFill>
                  <a:srgbClr val="FFFFFF"/>
                </a:solidFill>
                <a:latin typeface="Consolas"/>
              </a:rPr>
              <a:t># Convert Transaction Date column to datetime </a:t>
            </a:r>
          </a:p>
          <a:p>
            <a:endParaRPr lang="en-US" sz="1200" b="1" dirty="0">
              <a:solidFill>
                <a:srgbClr val="FFFFFF"/>
              </a:solidFill>
              <a:latin typeface="Consolas"/>
            </a:endParaRPr>
          </a:p>
          <a:p>
            <a:r>
              <a:rPr lang="en-US" sz="1200" b="1" dirty="0" err="1">
                <a:solidFill>
                  <a:srgbClr val="FFFFFF"/>
                </a:solidFill>
                <a:latin typeface="Consolas"/>
              </a:rPr>
              <a:t>self.table_merge</a:t>
            </a:r>
            <a:r>
              <a:rPr lang="en-US" sz="1200" b="1" dirty="0">
                <a:solidFill>
                  <a:srgbClr val="FFFFFF"/>
                </a:solidFill>
                <a:latin typeface="Consolas"/>
              </a:rPr>
              <a:t>["Transaction Date"] = </a:t>
            </a:r>
            <a:r>
              <a:rPr lang="en-US" sz="1200" b="1" dirty="0" err="1">
                <a:solidFill>
                  <a:srgbClr val="FFFFFF"/>
                </a:solidFill>
                <a:latin typeface="Consolas"/>
              </a:rPr>
              <a:t>pd.to_datetime</a:t>
            </a:r>
            <a:r>
              <a:rPr lang="en-US" sz="1200" b="1" dirty="0">
                <a:solidFill>
                  <a:srgbClr val="FFFFFF"/>
                </a:solidFill>
                <a:latin typeface="Consolas"/>
              </a:rPr>
              <a:t>(        </a:t>
            </a:r>
            <a:r>
              <a:rPr lang="en-US" sz="1200" b="1" dirty="0" err="1">
                <a:solidFill>
                  <a:srgbClr val="FFFFFF"/>
                </a:solidFill>
                <a:latin typeface="Consolas"/>
              </a:rPr>
              <a:t>self.table_merge</a:t>
            </a:r>
            <a:r>
              <a:rPr lang="en-US" sz="1200" b="1" dirty="0">
                <a:solidFill>
                  <a:srgbClr val="FFFFFF"/>
                </a:solidFill>
                <a:latin typeface="Consolas"/>
              </a:rPr>
              <a:t>["Transaction Date"])</a:t>
            </a:r>
          </a:p>
        </p:txBody>
      </p:sp>
    </p:spTree>
    <p:extLst>
      <p:ext uri="{BB962C8B-B14F-4D97-AF65-F5344CB8AC3E}">
        <p14:creationId xmlns:p14="http://schemas.microsoft.com/office/powerpoint/2010/main" val="3420706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AB379-CAA9-202E-5556-B54EC47F8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0290D-B904-A31D-5759-68262E9BA550}"/>
              </a:ext>
            </a:extLst>
          </p:cNvPr>
          <p:cNvSpPr>
            <a:spLocks noGrp="1"/>
          </p:cNvSpPr>
          <p:nvPr>
            <p:ph type="title"/>
          </p:nvPr>
        </p:nvSpPr>
        <p:spPr/>
        <p:txBody>
          <a:bodyPr/>
          <a:lstStyle/>
          <a:p>
            <a:r>
              <a:rPr lang="en-US" dirty="0"/>
              <a:t>Store Ranking Analysis</a:t>
            </a:r>
          </a:p>
        </p:txBody>
      </p:sp>
      <p:sp>
        <p:nvSpPr>
          <p:cNvPr id="4" name="Content Placeholder 3">
            <a:extLst>
              <a:ext uri="{FF2B5EF4-FFF2-40B4-BE49-F238E27FC236}">
                <a16:creationId xmlns:a16="http://schemas.microsoft.com/office/drawing/2014/main" id="{9A02EF22-7BEB-EB93-2237-46FE93352A71}"/>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355668"/>
            <a:ext cx="5181600" cy="4533900"/>
          </a:xfrm>
        </p:spPr>
        <p:txBody>
          <a:bodyPr/>
          <a:lstStyle/>
          <a:p>
            <a:r>
              <a:rPr lang="en-US" dirty="0"/>
              <a:t>Colorado was the strongest overall sales territory, accounting for 18 of the top 20 ranked stores in total revenue performance. Store 705 in Denver was the highest-performing location, generating more than $917,000 in total revenue during the reporting period.</a:t>
            </a:r>
          </a:p>
          <a:p>
            <a:r>
              <a:rPr lang="en-US" dirty="0"/>
              <a:t>The lowest-performing store in the rankings was Store 715 in Parker, Colorado, with approximately $279,000 in total revenue.</a:t>
            </a:r>
          </a:p>
          <a:p>
            <a:pPr>
              <a:buFont typeface="Arial" panose="020B0604020202020204" pitchFamily="34" charset="0"/>
              <a:buChar char="•"/>
            </a:pPr>
            <a:endParaRPr lang="en-US" dirty="0"/>
          </a:p>
        </p:txBody>
      </p:sp>
      <p:sp>
        <p:nvSpPr>
          <p:cNvPr id="13" name="Rectangle 12">
            <a:extLst>
              <a:ext uri="{FF2B5EF4-FFF2-40B4-BE49-F238E27FC236}">
                <a16:creationId xmlns:a16="http://schemas.microsoft.com/office/drawing/2014/main" id="{C9ABBFCC-CA6E-91A8-0278-D069DD2D818A}"/>
              </a:ext>
            </a:extLst>
          </p:cNvPr>
          <p:cNvSpPr/>
          <p:nvPr/>
        </p:nvSpPr>
        <p:spPr>
          <a:xfrm>
            <a:off x="6784258" y="1355668"/>
            <a:ext cx="5407742" cy="5502332"/>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31910BA9-44F7-86CF-8719-E2A43D6971CA}"/>
              </a:ext>
            </a:extLst>
          </p:cNvPr>
          <p:cNvSpPr txBox="1"/>
          <p:nvPr/>
        </p:nvSpPr>
        <p:spPr>
          <a:xfrm>
            <a:off x="7011213" y="4302003"/>
            <a:ext cx="4768645" cy="2308324"/>
          </a:xfrm>
          <a:prstGeom prst="rect">
            <a:avLst/>
          </a:prstGeom>
          <a:noFill/>
        </p:spPr>
        <p:txBody>
          <a:bodyPr wrap="square">
            <a:spAutoFit/>
          </a:bodyPr>
          <a:lstStyle/>
          <a:p>
            <a:r>
              <a:rPr lang="en-US" sz="1200" b="1" dirty="0">
                <a:solidFill>
                  <a:srgbClr val="FFFFFF"/>
                </a:solidFill>
                <a:latin typeface="Consolas"/>
              </a:rPr>
              <a:t># Rank stores </a:t>
            </a:r>
          </a:p>
          <a:p>
            <a:r>
              <a:rPr lang="en-US" sz="1200" b="1" dirty="0">
                <a:solidFill>
                  <a:srgbClr val="FFFFFF"/>
                </a:solidFill>
                <a:latin typeface="Consolas"/>
              </a:rPr>
              <a:t>       </a:t>
            </a:r>
          </a:p>
          <a:p>
            <a:r>
              <a:rPr lang="en-US" sz="1200" b="1" dirty="0">
                <a:solidFill>
                  <a:srgbClr val="FFFFFF"/>
                </a:solidFill>
                <a:latin typeface="Consolas"/>
              </a:rPr>
              <a:t>for rank, ((state, </a:t>
            </a:r>
            <a:r>
              <a:rPr lang="en-US" sz="1200" b="1" dirty="0" err="1">
                <a:solidFill>
                  <a:srgbClr val="FFFFFF"/>
                </a:solidFill>
                <a:latin typeface="Consolas"/>
              </a:rPr>
              <a:t>store_id</a:t>
            </a:r>
            <a:r>
              <a:rPr lang="en-US" sz="1200" b="1" dirty="0">
                <a:solidFill>
                  <a:srgbClr val="FFFFFF"/>
                </a:solidFill>
                <a:latin typeface="Consolas"/>
              </a:rPr>
              <a:t>, city), revenue) in enumerate(</a:t>
            </a:r>
            <a:r>
              <a:rPr lang="en-US" sz="1200" b="1" dirty="0" err="1">
                <a:solidFill>
                  <a:srgbClr val="FFFFFF"/>
                </a:solidFill>
                <a:latin typeface="Consolas"/>
              </a:rPr>
              <a:t>self.sorted_merge.items</a:t>
            </a:r>
            <a:r>
              <a:rPr lang="en-US" sz="1200" b="1" dirty="0">
                <a:solidFill>
                  <a:srgbClr val="FFFFFF"/>
                </a:solidFill>
                <a:latin typeface="Consolas"/>
              </a:rPr>
              <a:t>(),start=1):  </a:t>
            </a:r>
          </a:p>
          <a:p>
            <a:r>
              <a:rPr lang="en-US" sz="1200" b="1" dirty="0">
                <a:solidFill>
                  <a:srgbClr val="FFFFFF"/>
                </a:solidFill>
                <a:latin typeface="Consolas"/>
              </a:rPr>
              <a:t>      </a:t>
            </a:r>
          </a:p>
          <a:p>
            <a:r>
              <a:rPr lang="en-US" sz="1200" b="1" dirty="0">
                <a:solidFill>
                  <a:srgbClr val="FFFFFF"/>
                </a:solidFill>
                <a:latin typeface="Consolas"/>
              </a:rPr>
              <a:t>	print(</a:t>
            </a:r>
          </a:p>
          <a:p>
            <a:r>
              <a:rPr lang="en-US" sz="1200" b="1" dirty="0">
                <a:solidFill>
                  <a:srgbClr val="FFFFFF"/>
                </a:solidFill>
                <a:latin typeface="Consolas"/>
              </a:rPr>
              <a:t>	  f"\</a:t>
            </a:r>
            <a:r>
              <a:rPr lang="en-US" sz="1200" b="1" dirty="0" err="1">
                <a:solidFill>
                  <a:srgbClr val="FFFFFF"/>
                </a:solidFill>
                <a:latin typeface="Consolas"/>
              </a:rPr>
              <a:t>nRank</a:t>
            </a:r>
            <a:r>
              <a:rPr lang="en-US" sz="1200" b="1" dirty="0">
                <a:solidFill>
                  <a:srgbClr val="FFFFFF"/>
                </a:solidFill>
                <a:latin typeface="Consolas"/>
              </a:rPr>
              <a:t> #{rank}"            	   	 	  f"\</a:t>
            </a:r>
            <a:r>
              <a:rPr lang="en-US" sz="1200" b="1" dirty="0" err="1">
                <a:solidFill>
                  <a:srgbClr val="FFFFFF"/>
                </a:solidFill>
                <a:latin typeface="Consolas"/>
              </a:rPr>
              <a:t>nTerritory</a:t>
            </a:r>
            <a:r>
              <a:rPr lang="en-US" sz="1200" b="1" dirty="0">
                <a:solidFill>
                  <a:srgbClr val="FFFFFF"/>
                </a:solidFill>
                <a:latin typeface="Consolas"/>
              </a:rPr>
              <a:t>: {state}"            	  	  f"\</a:t>
            </a:r>
            <a:r>
              <a:rPr lang="en-US" sz="1200" b="1" dirty="0" err="1">
                <a:solidFill>
                  <a:srgbClr val="FFFFFF"/>
                </a:solidFill>
                <a:latin typeface="Consolas"/>
              </a:rPr>
              <a:t>nStore</a:t>
            </a:r>
            <a:r>
              <a:rPr lang="en-US" sz="1200" b="1" dirty="0">
                <a:solidFill>
                  <a:srgbClr val="FFFFFF"/>
                </a:solidFill>
                <a:latin typeface="Consolas"/>
              </a:rPr>
              <a:t> ID: {</a:t>
            </a:r>
            <a:r>
              <a:rPr lang="en-US" sz="1200" b="1" dirty="0" err="1">
                <a:solidFill>
                  <a:srgbClr val="FFFFFF"/>
                </a:solidFill>
                <a:latin typeface="Consolas"/>
              </a:rPr>
              <a:t>store_id</a:t>
            </a:r>
            <a:r>
              <a:rPr lang="en-US" sz="1200" b="1" dirty="0">
                <a:solidFill>
                  <a:srgbClr val="FFFFFF"/>
                </a:solidFill>
                <a:latin typeface="Consolas"/>
              </a:rPr>
              <a:t>}"            		  f"\</a:t>
            </a:r>
            <a:r>
              <a:rPr lang="en-US" sz="1200" b="1" dirty="0" err="1">
                <a:solidFill>
                  <a:srgbClr val="FFFFFF"/>
                </a:solidFill>
                <a:latin typeface="Consolas"/>
              </a:rPr>
              <a:t>nCity</a:t>
            </a:r>
            <a:r>
              <a:rPr lang="en-US" sz="1200" b="1" dirty="0">
                <a:solidFill>
                  <a:srgbClr val="FFFFFF"/>
                </a:solidFill>
                <a:latin typeface="Consolas"/>
              </a:rPr>
              <a:t>: {city}"            </a:t>
            </a:r>
          </a:p>
          <a:p>
            <a:r>
              <a:rPr lang="en-US" sz="1200" b="1" dirty="0">
                <a:solidFill>
                  <a:srgbClr val="FFFFFF"/>
                </a:solidFill>
                <a:latin typeface="Consolas"/>
              </a:rPr>
              <a:t>	  f"\</a:t>
            </a:r>
            <a:r>
              <a:rPr lang="en-US" sz="1200" b="1" dirty="0" err="1">
                <a:solidFill>
                  <a:srgbClr val="FFFFFF"/>
                </a:solidFill>
                <a:latin typeface="Consolas"/>
              </a:rPr>
              <a:t>nTotal</a:t>
            </a:r>
            <a:r>
              <a:rPr lang="en-US" sz="1200" b="1" dirty="0">
                <a:solidFill>
                  <a:srgbClr val="FFFFFF"/>
                </a:solidFill>
                <a:latin typeface="Consolas"/>
              </a:rPr>
              <a:t> 	</a:t>
            </a:r>
          </a:p>
          <a:p>
            <a:r>
              <a:rPr lang="en-US" sz="1200" b="1" dirty="0">
                <a:solidFill>
                  <a:srgbClr val="FFFFFF"/>
                </a:solidFill>
                <a:latin typeface="Consolas"/>
              </a:rPr>
              <a:t>	  Revenue: ${revenue:,.2f}")</a:t>
            </a:r>
            <a:endParaRPr lang="en-US" dirty="0"/>
          </a:p>
        </p:txBody>
      </p:sp>
      <p:sp>
        <p:nvSpPr>
          <p:cNvPr id="15" name="TextBox 14">
            <a:extLst>
              <a:ext uri="{FF2B5EF4-FFF2-40B4-BE49-F238E27FC236}">
                <a16:creationId xmlns:a16="http://schemas.microsoft.com/office/drawing/2014/main" id="{EB2ECE74-CCFE-1309-2082-31CF2A921240}"/>
              </a:ext>
            </a:extLst>
          </p:cNvPr>
          <p:cNvSpPr txBox="1"/>
          <p:nvPr/>
        </p:nvSpPr>
        <p:spPr>
          <a:xfrm>
            <a:off x="8633460" y="1455928"/>
            <a:ext cx="1546449" cy="338554"/>
          </a:xfrm>
          <a:prstGeom prst="rect">
            <a:avLst/>
          </a:prstGeom>
          <a:noFill/>
        </p:spPr>
        <p:txBody>
          <a:bodyPr wrap="none">
            <a:spAutoFit/>
          </a:bodyPr>
          <a:lstStyle/>
          <a:p>
            <a:r>
              <a:rPr sz="1600" b="1" dirty="0">
                <a:solidFill>
                  <a:srgbClr val="0066CC"/>
                </a:solidFill>
              </a:rPr>
              <a:t>Code Example</a:t>
            </a:r>
          </a:p>
        </p:txBody>
      </p:sp>
      <p:sp>
        <p:nvSpPr>
          <p:cNvPr id="17" name="TextBox 16">
            <a:extLst>
              <a:ext uri="{FF2B5EF4-FFF2-40B4-BE49-F238E27FC236}">
                <a16:creationId xmlns:a16="http://schemas.microsoft.com/office/drawing/2014/main" id="{A6AA4B2A-0440-80C8-3A48-3B8EA6256525}"/>
              </a:ext>
            </a:extLst>
          </p:cNvPr>
          <p:cNvSpPr txBox="1"/>
          <p:nvPr/>
        </p:nvSpPr>
        <p:spPr>
          <a:xfrm>
            <a:off x="7011214" y="1924914"/>
            <a:ext cx="4768645" cy="1015663"/>
          </a:xfrm>
          <a:prstGeom prst="rect">
            <a:avLst/>
          </a:prstGeom>
          <a:noFill/>
        </p:spPr>
        <p:txBody>
          <a:bodyPr wrap="square">
            <a:spAutoFit/>
          </a:bodyPr>
          <a:lstStyle/>
          <a:p>
            <a:r>
              <a:rPr lang="en-US" sz="1200" b="1" dirty="0">
                <a:solidFill>
                  <a:srgbClr val="FFFFFF"/>
                </a:solidFill>
                <a:latin typeface="Consolas"/>
              </a:rPr>
              <a:t># Group by Store, Location, and State </a:t>
            </a:r>
          </a:p>
          <a:p>
            <a:r>
              <a:rPr lang="en-US" sz="1200" b="1" dirty="0">
                <a:solidFill>
                  <a:srgbClr val="FFFFFF"/>
                </a:solidFill>
                <a:latin typeface="Consolas"/>
              </a:rPr>
              <a:t>       </a:t>
            </a:r>
          </a:p>
          <a:p>
            <a:r>
              <a:rPr lang="en-US" sz="1200" b="1" dirty="0" err="1">
                <a:solidFill>
                  <a:srgbClr val="FFFFFF"/>
                </a:solidFill>
                <a:latin typeface="Consolas"/>
              </a:rPr>
              <a:t>self.grouped_merge</a:t>
            </a:r>
            <a:r>
              <a:rPr lang="en-US" sz="1200" b="1" dirty="0">
                <a:solidFill>
                  <a:srgbClr val="FFFFFF"/>
                </a:solidFill>
                <a:latin typeface="Consolas"/>
              </a:rPr>
              <a:t> = </a:t>
            </a:r>
            <a:r>
              <a:rPr lang="en-US" sz="1200" b="1" dirty="0" err="1">
                <a:solidFill>
                  <a:srgbClr val="FFFFFF"/>
                </a:solidFill>
                <a:latin typeface="Consolas"/>
              </a:rPr>
              <a:t>self.filter_merge.groupby</a:t>
            </a:r>
            <a:r>
              <a:rPr lang="en-US" sz="1200" b="1" dirty="0">
                <a:solidFill>
                  <a:srgbClr val="FFFFFF"/>
                </a:solidFill>
                <a:latin typeface="Consolas"/>
              </a:rPr>
              <a:t>(        ["State", "Store ID", "Store Location"]    )["Sale Amount"].sum()</a:t>
            </a:r>
            <a:endParaRPr lang="en-US" dirty="0"/>
          </a:p>
        </p:txBody>
      </p:sp>
      <p:sp>
        <p:nvSpPr>
          <p:cNvPr id="6" name="TextBox 5">
            <a:extLst>
              <a:ext uri="{FF2B5EF4-FFF2-40B4-BE49-F238E27FC236}">
                <a16:creationId xmlns:a16="http://schemas.microsoft.com/office/drawing/2014/main" id="{366009C3-6F93-E44F-2A64-D7417F109502}"/>
              </a:ext>
            </a:extLst>
          </p:cNvPr>
          <p:cNvSpPr txBox="1"/>
          <p:nvPr/>
        </p:nvSpPr>
        <p:spPr>
          <a:xfrm>
            <a:off x="7022361" y="3149455"/>
            <a:ext cx="4768645" cy="830997"/>
          </a:xfrm>
          <a:prstGeom prst="rect">
            <a:avLst/>
          </a:prstGeom>
          <a:noFill/>
        </p:spPr>
        <p:txBody>
          <a:bodyPr wrap="square">
            <a:spAutoFit/>
          </a:bodyPr>
          <a:lstStyle/>
          <a:p>
            <a:r>
              <a:rPr lang="en-US" sz="1200" b="1" dirty="0">
                <a:solidFill>
                  <a:srgbClr val="FFFFFF"/>
                </a:solidFill>
                <a:latin typeface="Consolas"/>
              </a:rPr>
              <a:t># Sort from greatest to least  </a:t>
            </a:r>
          </a:p>
          <a:p>
            <a:r>
              <a:rPr lang="en-US" sz="1200" b="1" dirty="0">
                <a:solidFill>
                  <a:srgbClr val="FFFFFF"/>
                </a:solidFill>
                <a:latin typeface="Consolas"/>
              </a:rPr>
              <a:t>      </a:t>
            </a:r>
          </a:p>
          <a:p>
            <a:r>
              <a:rPr lang="en-US" sz="1200" b="1" dirty="0" err="1">
                <a:solidFill>
                  <a:srgbClr val="FFFFFF"/>
                </a:solidFill>
                <a:latin typeface="Consolas"/>
              </a:rPr>
              <a:t>self.sorted_merge</a:t>
            </a:r>
            <a:r>
              <a:rPr lang="en-US" sz="1200" b="1" dirty="0">
                <a:solidFill>
                  <a:srgbClr val="FFFFFF"/>
                </a:solidFill>
                <a:latin typeface="Consolas"/>
              </a:rPr>
              <a:t> = </a:t>
            </a:r>
            <a:r>
              <a:rPr lang="en-US" sz="1200" b="1" dirty="0" err="1">
                <a:solidFill>
                  <a:srgbClr val="FFFFFF"/>
                </a:solidFill>
                <a:latin typeface="Consolas"/>
              </a:rPr>
              <a:t>self.grouped_merge.sort_values</a:t>
            </a:r>
            <a:r>
              <a:rPr lang="en-US" sz="1200" b="1" dirty="0">
                <a:solidFill>
                  <a:srgbClr val="FFFFFF"/>
                </a:solidFill>
                <a:latin typeface="Consolas"/>
              </a:rPr>
              <a:t>(        ascending=False)</a:t>
            </a:r>
          </a:p>
        </p:txBody>
      </p:sp>
      <p:pic>
        <p:nvPicPr>
          <p:cNvPr id="7" name="Picture 6">
            <a:extLst>
              <a:ext uri="{FF2B5EF4-FFF2-40B4-BE49-F238E27FC236}">
                <a16:creationId xmlns:a16="http://schemas.microsoft.com/office/drawing/2014/main" id="{44386D99-633D-6A7E-AD5B-1C2C250BF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805" y="3667432"/>
            <a:ext cx="4308466" cy="2983307"/>
          </a:xfrm>
          <a:prstGeom prst="rect">
            <a:avLst/>
          </a:prstGeom>
        </p:spPr>
      </p:pic>
    </p:spTree>
    <p:extLst>
      <p:ext uri="{BB962C8B-B14F-4D97-AF65-F5344CB8AC3E}">
        <p14:creationId xmlns:p14="http://schemas.microsoft.com/office/powerpoint/2010/main" val="247916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AD631-72FD-E83A-3810-2D286DB2B0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D7F34D-55AF-3D99-827B-15D0C53F1837}"/>
              </a:ext>
            </a:extLst>
          </p:cNvPr>
          <p:cNvSpPr>
            <a:spLocks noGrp="1"/>
          </p:cNvSpPr>
          <p:nvPr>
            <p:ph type="title"/>
          </p:nvPr>
        </p:nvSpPr>
        <p:spPr/>
        <p:txBody>
          <a:bodyPr/>
          <a:lstStyle/>
          <a:p>
            <a:r>
              <a:rPr lang="en-US" dirty="0"/>
              <a:t>Top Customer Per Territory Analysis</a:t>
            </a:r>
          </a:p>
        </p:txBody>
      </p:sp>
      <p:sp>
        <p:nvSpPr>
          <p:cNvPr id="4" name="Content Placeholder 3">
            <a:extLst>
              <a:ext uri="{FF2B5EF4-FFF2-40B4-BE49-F238E27FC236}">
                <a16:creationId xmlns:a16="http://schemas.microsoft.com/office/drawing/2014/main" id="{17F7703F-C62C-BED9-E35A-DE3455F0BC98}"/>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355668"/>
            <a:ext cx="5181600" cy="4533900"/>
          </a:xfrm>
        </p:spPr>
        <p:txBody>
          <a:bodyPr/>
          <a:lstStyle/>
          <a:p>
            <a:r>
              <a:rPr lang="en-US" dirty="0"/>
              <a:t>Colorado was the strongest performing territory overall, with Gloria Mendoza generating the highest customer revenue at approximately $7,855.66, while Adrian Veidt was the lowest-ranked top-five customer in the territory with about $4,365.77 in sales.</a:t>
            </a:r>
          </a:p>
          <a:p>
            <a:r>
              <a:rPr lang="en-US" dirty="0"/>
              <a:t>In South Carolina, Jin Kwon was the highest-performing customer with approximately $1,786.05 in revenue, while Cal Abar ranked lowest among the top five customers with about $1,396.50 in sales. Overall, Colorado significantly outperformed South Carolina in total customer revenue, indicating a stronger concentration of high-value customers within the territory.</a:t>
            </a:r>
          </a:p>
          <a:p>
            <a:pPr>
              <a:buFont typeface="Arial" panose="020B0604020202020204" pitchFamily="34" charset="0"/>
              <a:buChar char="•"/>
            </a:pPr>
            <a:endParaRPr lang="en-US" dirty="0"/>
          </a:p>
        </p:txBody>
      </p:sp>
      <p:sp>
        <p:nvSpPr>
          <p:cNvPr id="13" name="Rectangle 12">
            <a:extLst>
              <a:ext uri="{FF2B5EF4-FFF2-40B4-BE49-F238E27FC236}">
                <a16:creationId xmlns:a16="http://schemas.microsoft.com/office/drawing/2014/main" id="{CADFABEA-F569-12B1-2F39-C3444481E83B}"/>
              </a:ext>
            </a:extLst>
          </p:cNvPr>
          <p:cNvSpPr/>
          <p:nvPr/>
        </p:nvSpPr>
        <p:spPr>
          <a:xfrm>
            <a:off x="6784258" y="1355668"/>
            <a:ext cx="5407742" cy="5502332"/>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43705143-8045-E1EE-A9AC-8D985D0904E5}"/>
              </a:ext>
            </a:extLst>
          </p:cNvPr>
          <p:cNvSpPr txBox="1"/>
          <p:nvPr/>
        </p:nvSpPr>
        <p:spPr>
          <a:xfrm>
            <a:off x="7011213" y="4302003"/>
            <a:ext cx="4768645" cy="1015663"/>
          </a:xfrm>
          <a:prstGeom prst="rect">
            <a:avLst/>
          </a:prstGeom>
          <a:noFill/>
        </p:spPr>
        <p:txBody>
          <a:bodyPr wrap="square">
            <a:spAutoFit/>
          </a:bodyPr>
          <a:lstStyle/>
          <a:p>
            <a:r>
              <a:rPr lang="en-US" sz="1200" b="1" dirty="0">
                <a:solidFill>
                  <a:srgbClr val="FFFFFF"/>
                </a:solidFill>
                <a:latin typeface="Consolas"/>
              </a:rPr>
              <a:t># Sort highest revenue customers</a:t>
            </a:r>
          </a:p>
          <a:p>
            <a:endParaRPr lang="en-US" sz="1200" b="1" dirty="0">
              <a:solidFill>
                <a:srgbClr val="FFFFFF"/>
              </a:solidFill>
              <a:latin typeface="Consolas"/>
            </a:endParaRPr>
          </a:p>
          <a:p>
            <a:r>
              <a:rPr lang="en-US" sz="1200" b="1" dirty="0" err="1">
                <a:solidFill>
                  <a:srgbClr val="FFFFFF"/>
                </a:solidFill>
                <a:latin typeface="Consolas"/>
              </a:rPr>
              <a:t>self.sorted_top_customers</a:t>
            </a:r>
            <a:r>
              <a:rPr lang="en-US" sz="1200" b="1" dirty="0">
                <a:solidFill>
                  <a:srgbClr val="FFFFFF"/>
                </a:solidFill>
                <a:latin typeface="Consolas"/>
              </a:rPr>
              <a:t> = </a:t>
            </a:r>
            <a:r>
              <a:rPr lang="en-US" sz="1200" b="1" dirty="0" err="1">
                <a:solidFill>
                  <a:srgbClr val="FFFFFF"/>
                </a:solidFill>
                <a:latin typeface="Consolas"/>
              </a:rPr>
              <a:t>self.top_customers.sort_values</a:t>
            </a:r>
            <a:r>
              <a:rPr lang="en-US" sz="1200" b="1" dirty="0">
                <a:solidFill>
                  <a:srgbClr val="FFFFFF"/>
                </a:solidFill>
                <a:latin typeface="Consolas"/>
              </a:rPr>
              <a:t>(        ascending=False)</a:t>
            </a:r>
            <a:endParaRPr lang="en-US" dirty="0"/>
          </a:p>
        </p:txBody>
      </p:sp>
      <p:sp>
        <p:nvSpPr>
          <p:cNvPr id="15" name="TextBox 14">
            <a:extLst>
              <a:ext uri="{FF2B5EF4-FFF2-40B4-BE49-F238E27FC236}">
                <a16:creationId xmlns:a16="http://schemas.microsoft.com/office/drawing/2014/main" id="{166D2CF3-C486-E0B2-E216-605A268B0A99}"/>
              </a:ext>
            </a:extLst>
          </p:cNvPr>
          <p:cNvSpPr txBox="1"/>
          <p:nvPr/>
        </p:nvSpPr>
        <p:spPr>
          <a:xfrm>
            <a:off x="8633460" y="1455928"/>
            <a:ext cx="1546449" cy="338554"/>
          </a:xfrm>
          <a:prstGeom prst="rect">
            <a:avLst/>
          </a:prstGeom>
          <a:noFill/>
        </p:spPr>
        <p:txBody>
          <a:bodyPr wrap="none">
            <a:spAutoFit/>
          </a:bodyPr>
          <a:lstStyle/>
          <a:p>
            <a:r>
              <a:rPr sz="1600" b="1" dirty="0">
                <a:solidFill>
                  <a:srgbClr val="0066CC"/>
                </a:solidFill>
              </a:rPr>
              <a:t>Code Example</a:t>
            </a:r>
          </a:p>
        </p:txBody>
      </p:sp>
      <p:sp>
        <p:nvSpPr>
          <p:cNvPr id="17" name="TextBox 16">
            <a:extLst>
              <a:ext uri="{FF2B5EF4-FFF2-40B4-BE49-F238E27FC236}">
                <a16:creationId xmlns:a16="http://schemas.microsoft.com/office/drawing/2014/main" id="{375131CF-BF33-F684-1143-5A347F95AE45}"/>
              </a:ext>
            </a:extLst>
          </p:cNvPr>
          <p:cNvSpPr txBox="1"/>
          <p:nvPr/>
        </p:nvSpPr>
        <p:spPr>
          <a:xfrm>
            <a:off x="7011214" y="1924914"/>
            <a:ext cx="4768645" cy="1200329"/>
          </a:xfrm>
          <a:prstGeom prst="rect">
            <a:avLst/>
          </a:prstGeom>
          <a:noFill/>
        </p:spPr>
        <p:txBody>
          <a:bodyPr wrap="square">
            <a:spAutoFit/>
          </a:bodyPr>
          <a:lstStyle/>
          <a:p>
            <a:r>
              <a:rPr lang="en-US" sz="1200" b="1" dirty="0">
                <a:solidFill>
                  <a:srgbClr val="FFFFFF"/>
                </a:solidFill>
                <a:latin typeface="Consolas"/>
              </a:rPr>
              <a:t># Merge customer list with sales data</a:t>
            </a:r>
          </a:p>
          <a:p>
            <a:endParaRPr lang="en-US" sz="1200" b="1" dirty="0">
              <a:solidFill>
                <a:srgbClr val="FFFFFF"/>
              </a:solidFill>
              <a:latin typeface="Consolas"/>
            </a:endParaRPr>
          </a:p>
          <a:p>
            <a:r>
              <a:rPr lang="en-US" sz="1200" b="1" dirty="0" err="1">
                <a:solidFill>
                  <a:srgbClr val="FFFFFF"/>
                </a:solidFill>
                <a:latin typeface="Consolas"/>
              </a:rPr>
              <a:t>self.customer_sales_merge</a:t>
            </a:r>
            <a:r>
              <a:rPr lang="en-US" sz="1200" b="1" dirty="0">
                <a:solidFill>
                  <a:srgbClr val="FFFFFF"/>
                </a:solidFill>
                <a:latin typeface="Consolas"/>
              </a:rPr>
              <a:t> = </a:t>
            </a:r>
            <a:r>
              <a:rPr lang="en-US" sz="1200" b="1" dirty="0" err="1">
                <a:solidFill>
                  <a:srgbClr val="FFFFFF"/>
                </a:solidFill>
                <a:latin typeface="Consolas"/>
              </a:rPr>
              <a:t>pd.merge</a:t>
            </a:r>
            <a:r>
              <a:rPr lang="en-US" sz="1200" b="1" dirty="0">
                <a:solidFill>
                  <a:srgbClr val="FFFFFF"/>
                </a:solidFill>
                <a:latin typeface="Consolas"/>
              </a:rPr>
              <a:t>(        </a:t>
            </a:r>
            <a:r>
              <a:rPr lang="en-US" sz="1200" b="1" dirty="0" err="1">
                <a:solidFill>
                  <a:srgbClr val="FFFFFF"/>
                </a:solidFill>
                <a:latin typeface="Consolas"/>
              </a:rPr>
              <a:t>self.storesales,self.customer_list</a:t>
            </a:r>
            <a:r>
              <a:rPr lang="en-US" sz="1200" b="1" dirty="0">
                <a:solidFill>
                  <a:srgbClr val="FFFFFF"/>
                </a:solidFill>
                <a:latin typeface="Consolas"/>
              </a:rPr>
              <a:t>,        </a:t>
            </a:r>
            <a:r>
              <a:rPr lang="en-US" sz="1200" b="1" dirty="0" err="1">
                <a:solidFill>
                  <a:srgbClr val="FFFFFF"/>
                </a:solidFill>
                <a:latin typeface="Consolas"/>
              </a:rPr>
              <a:t>left_on</a:t>
            </a:r>
            <a:r>
              <a:rPr lang="en-US" sz="1200" b="1" dirty="0">
                <a:solidFill>
                  <a:srgbClr val="FFFFFF"/>
                </a:solidFill>
                <a:latin typeface="Consolas"/>
              </a:rPr>
              <a:t>="</a:t>
            </a:r>
            <a:r>
              <a:rPr lang="en-US" sz="1200" b="1" dirty="0" err="1">
                <a:solidFill>
                  <a:srgbClr val="FFFFFF"/>
                </a:solidFill>
                <a:latin typeface="Consolas"/>
              </a:rPr>
              <a:t>RewardsID</a:t>
            </a:r>
            <a:r>
              <a:rPr lang="en-US" sz="1200" b="1" dirty="0">
                <a:solidFill>
                  <a:srgbClr val="FFFFFF"/>
                </a:solidFill>
                <a:latin typeface="Consolas"/>
              </a:rPr>
              <a:t>",</a:t>
            </a:r>
            <a:r>
              <a:rPr lang="en-US" sz="1200" b="1" dirty="0" err="1">
                <a:solidFill>
                  <a:srgbClr val="FFFFFF"/>
                </a:solidFill>
                <a:latin typeface="Consolas"/>
              </a:rPr>
              <a:t>right_on</a:t>
            </a:r>
            <a:r>
              <a:rPr lang="en-US" sz="1200" b="1" dirty="0">
                <a:solidFill>
                  <a:srgbClr val="FFFFFF"/>
                </a:solidFill>
                <a:latin typeface="Consolas"/>
              </a:rPr>
              <a:t>="</a:t>
            </a:r>
            <a:r>
              <a:rPr lang="en-US" sz="1200" b="1" dirty="0" err="1">
                <a:solidFill>
                  <a:srgbClr val="FFFFFF"/>
                </a:solidFill>
                <a:latin typeface="Consolas"/>
              </a:rPr>
              <a:t>cust_id</a:t>
            </a:r>
            <a:r>
              <a:rPr lang="en-US" sz="1200" b="1" dirty="0">
                <a:solidFill>
                  <a:srgbClr val="FFFFFF"/>
                </a:solidFill>
                <a:latin typeface="Consolas"/>
              </a:rPr>
              <a:t>",        how="inner")</a:t>
            </a:r>
            <a:endParaRPr lang="en-US" dirty="0"/>
          </a:p>
        </p:txBody>
      </p:sp>
      <p:sp>
        <p:nvSpPr>
          <p:cNvPr id="6" name="TextBox 5">
            <a:extLst>
              <a:ext uri="{FF2B5EF4-FFF2-40B4-BE49-F238E27FC236}">
                <a16:creationId xmlns:a16="http://schemas.microsoft.com/office/drawing/2014/main" id="{E07FE891-498A-24D6-CCD5-606536660E26}"/>
              </a:ext>
            </a:extLst>
          </p:cNvPr>
          <p:cNvSpPr txBox="1"/>
          <p:nvPr/>
        </p:nvSpPr>
        <p:spPr>
          <a:xfrm>
            <a:off x="7022361" y="3149455"/>
            <a:ext cx="4768645" cy="1015663"/>
          </a:xfrm>
          <a:prstGeom prst="rect">
            <a:avLst/>
          </a:prstGeom>
          <a:noFill/>
        </p:spPr>
        <p:txBody>
          <a:bodyPr wrap="square">
            <a:spAutoFit/>
          </a:bodyPr>
          <a:lstStyle/>
          <a:p>
            <a:r>
              <a:rPr lang="en-US" sz="1200" b="1" dirty="0">
                <a:solidFill>
                  <a:srgbClr val="FFFFFF"/>
                </a:solidFill>
                <a:latin typeface="Consolas"/>
              </a:rPr>
              <a:t># Merge with store details</a:t>
            </a:r>
          </a:p>
          <a:p>
            <a:endParaRPr lang="en-US" sz="1200" b="1" dirty="0">
              <a:solidFill>
                <a:srgbClr val="FFFFFF"/>
              </a:solidFill>
              <a:latin typeface="Consolas"/>
            </a:endParaRPr>
          </a:p>
          <a:p>
            <a:r>
              <a:rPr lang="en-US" sz="1200" b="1" dirty="0" err="1">
                <a:solidFill>
                  <a:srgbClr val="FFFFFF"/>
                </a:solidFill>
                <a:latin typeface="Consolas"/>
              </a:rPr>
              <a:t>self.customer_territory_merge</a:t>
            </a:r>
            <a:r>
              <a:rPr lang="en-US" sz="1200" b="1" dirty="0">
                <a:solidFill>
                  <a:srgbClr val="FFFFFF"/>
                </a:solidFill>
                <a:latin typeface="Consolas"/>
              </a:rPr>
              <a:t> = </a:t>
            </a:r>
            <a:r>
              <a:rPr lang="en-US" sz="1200" b="1" dirty="0" err="1">
                <a:solidFill>
                  <a:srgbClr val="FFFFFF"/>
                </a:solidFill>
                <a:latin typeface="Consolas"/>
              </a:rPr>
              <a:t>pd.merge</a:t>
            </a:r>
            <a:r>
              <a:rPr lang="en-US" sz="1200" b="1" dirty="0">
                <a:solidFill>
                  <a:srgbClr val="FFFFFF"/>
                </a:solidFill>
                <a:latin typeface="Consolas"/>
              </a:rPr>
              <a:t>(        </a:t>
            </a:r>
            <a:r>
              <a:rPr lang="en-US" sz="1200" b="1" dirty="0" err="1">
                <a:solidFill>
                  <a:srgbClr val="FFFFFF"/>
                </a:solidFill>
                <a:latin typeface="Consolas"/>
              </a:rPr>
              <a:t>self.customer_sales_merge,self.storedetails</a:t>
            </a:r>
            <a:r>
              <a:rPr lang="en-US" sz="1200" b="1" dirty="0">
                <a:solidFill>
                  <a:srgbClr val="FFFFFF"/>
                </a:solidFill>
                <a:latin typeface="Consolas"/>
              </a:rPr>
              <a:t>,        on="Store </a:t>
            </a:r>
            <a:r>
              <a:rPr lang="en-US" sz="1200" b="1" dirty="0" err="1">
                <a:solidFill>
                  <a:srgbClr val="FFFFFF"/>
                </a:solidFill>
                <a:latin typeface="Consolas"/>
              </a:rPr>
              <a:t>ID",how</a:t>
            </a:r>
            <a:r>
              <a:rPr lang="en-US" sz="1200" b="1" dirty="0">
                <a:solidFill>
                  <a:srgbClr val="FFFFFF"/>
                </a:solidFill>
                <a:latin typeface="Consolas"/>
              </a:rPr>
              <a:t>="inner")</a:t>
            </a:r>
          </a:p>
        </p:txBody>
      </p:sp>
      <p:pic>
        <p:nvPicPr>
          <p:cNvPr id="5" name="Picture 4">
            <a:extLst>
              <a:ext uri="{FF2B5EF4-FFF2-40B4-BE49-F238E27FC236}">
                <a16:creationId xmlns:a16="http://schemas.microsoft.com/office/drawing/2014/main" id="{BE82A573-479E-B624-9F88-D76A88F0A8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820" y="4678675"/>
            <a:ext cx="3513602" cy="2020143"/>
          </a:xfrm>
          <a:prstGeom prst="rect">
            <a:avLst/>
          </a:prstGeom>
        </p:spPr>
      </p:pic>
    </p:spTree>
    <p:extLst>
      <p:ext uri="{BB962C8B-B14F-4D97-AF65-F5344CB8AC3E}">
        <p14:creationId xmlns:p14="http://schemas.microsoft.com/office/powerpoint/2010/main" val="367344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95F-D1F9-9606-49CF-79D9A5FE0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A1F2A-BC27-9CF8-FC95-7657994F3271}"/>
              </a:ext>
            </a:extLst>
          </p:cNvPr>
          <p:cNvSpPr>
            <a:spLocks noGrp="1"/>
          </p:cNvSpPr>
          <p:nvPr>
            <p:ph type="title"/>
          </p:nvPr>
        </p:nvSpPr>
        <p:spPr/>
        <p:txBody>
          <a:bodyPr/>
          <a:lstStyle/>
          <a:p>
            <a:r>
              <a:rPr lang="en-US" dirty="0"/>
              <a:t>Monthly Product Category Performance Analysis</a:t>
            </a:r>
          </a:p>
        </p:txBody>
      </p:sp>
      <p:sp>
        <p:nvSpPr>
          <p:cNvPr id="4" name="Content Placeholder 3">
            <a:extLst>
              <a:ext uri="{FF2B5EF4-FFF2-40B4-BE49-F238E27FC236}">
                <a16:creationId xmlns:a16="http://schemas.microsoft.com/office/drawing/2014/main" id="{DC048B92-26BC-A3E2-151F-23BBA3A1F309}"/>
              </a:ext>
            </a:extLst>
          </p:cNvPr>
          <p:cNvSpPr>
            <a:spLocks noGrp="1"/>
          </p:cNvSpPr>
          <p:nvPr>
            <p:ph sz="quarter" idx="16"/>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0" y="1355668"/>
            <a:ext cx="5250426" cy="4672848"/>
          </a:xfrm>
        </p:spPr>
        <p:txBody>
          <a:bodyPr>
            <a:normAutofit/>
          </a:bodyPr>
          <a:lstStyle/>
          <a:p>
            <a:r>
              <a:rPr lang="en-US" sz="1200" dirty="0"/>
              <a:t>The monthly category analysis helps identify which product categories generate the highest transaction volume and sales revenue within the Colorado and South Carolina territories. Categories with consistently high transaction counts and strong monthly revenue likely represent the company’s most popular products and strongest-performing merchandise segments.</a:t>
            </a:r>
          </a:p>
          <a:p>
            <a:r>
              <a:rPr lang="en-US" sz="1200" dirty="0"/>
              <a:t>Colorado is expected to generate significantly higher transaction volume and revenue because it consistently outperformed South Carolina in previous territory sales analyses. Product categories with lower transaction counts or weaker sales revenue may present opportunities for growth through additional marketing campaigns, inventory expansion, product promotions, or improved store placement strategies.</a:t>
            </a:r>
          </a:p>
          <a:p>
            <a:r>
              <a:rPr lang="en-US" sz="1200" dirty="0"/>
              <a:t>Seasonal sales trends may also reveal months where certain product categories become more popular, helping management make better decisions related to forecasting, inventory management, and future business planning.</a:t>
            </a:r>
          </a:p>
          <a:p>
            <a:pPr>
              <a:buFont typeface="Arial" panose="020B0604020202020204" pitchFamily="34" charset="0"/>
              <a:buChar char="•"/>
            </a:pPr>
            <a:endParaRPr lang="en-US" dirty="0"/>
          </a:p>
        </p:txBody>
      </p:sp>
      <p:sp>
        <p:nvSpPr>
          <p:cNvPr id="13" name="Rectangle 12">
            <a:extLst>
              <a:ext uri="{FF2B5EF4-FFF2-40B4-BE49-F238E27FC236}">
                <a16:creationId xmlns:a16="http://schemas.microsoft.com/office/drawing/2014/main" id="{B8309741-930F-F600-F422-DD64F6711182}"/>
              </a:ext>
            </a:extLst>
          </p:cNvPr>
          <p:cNvSpPr/>
          <p:nvPr/>
        </p:nvSpPr>
        <p:spPr>
          <a:xfrm>
            <a:off x="6784258" y="1355668"/>
            <a:ext cx="5407742" cy="5502332"/>
          </a:xfrm>
          <a:prstGeom prst="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D0999838-8A8D-1AC8-5EDE-DE8F28BFF171}"/>
              </a:ext>
            </a:extLst>
          </p:cNvPr>
          <p:cNvSpPr txBox="1"/>
          <p:nvPr/>
        </p:nvSpPr>
        <p:spPr>
          <a:xfrm>
            <a:off x="7011213" y="4302003"/>
            <a:ext cx="4768645" cy="830997"/>
          </a:xfrm>
          <a:prstGeom prst="rect">
            <a:avLst/>
          </a:prstGeom>
          <a:noFill/>
        </p:spPr>
        <p:txBody>
          <a:bodyPr wrap="square">
            <a:spAutoFit/>
          </a:bodyPr>
          <a:lstStyle/>
          <a:p>
            <a:r>
              <a:rPr lang="en-US" sz="1200" b="1" dirty="0">
                <a:solidFill>
                  <a:srgbClr val="FFFFFF"/>
                </a:solidFill>
                <a:latin typeface="Consolas"/>
              </a:rPr>
              <a:t># Add Method to Class</a:t>
            </a:r>
          </a:p>
          <a:p>
            <a:endParaRPr lang="en-US" sz="1200" b="1" dirty="0">
              <a:solidFill>
                <a:srgbClr val="FFFFFF"/>
              </a:solidFill>
              <a:latin typeface="Consolas"/>
            </a:endParaRPr>
          </a:p>
          <a:p>
            <a:r>
              <a:rPr lang="en-US" sz="1200" b="1" dirty="0" err="1">
                <a:solidFill>
                  <a:srgbClr val="FFFFFF"/>
                </a:solidFill>
                <a:latin typeface="Consolas"/>
              </a:rPr>
              <a:t>EmpAnalysis.monthly_category_analysis</a:t>
            </a:r>
            <a:r>
              <a:rPr lang="en-US" sz="1200" b="1" dirty="0">
                <a:solidFill>
                  <a:srgbClr val="FFFFFF"/>
                </a:solidFill>
                <a:latin typeface="Consolas"/>
              </a:rPr>
              <a:t> = </a:t>
            </a:r>
            <a:r>
              <a:rPr lang="en-US" sz="1200" b="1" dirty="0" err="1">
                <a:solidFill>
                  <a:srgbClr val="FFFFFF"/>
                </a:solidFill>
                <a:latin typeface="Consolas"/>
              </a:rPr>
              <a:t>monthly_category_analysis</a:t>
            </a:r>
            <a:endParaRPr lang="en-US" dirty="0"/>
          </a:p>
        </p:txBody>
      </p:sp>
      <p:sp>
        <p:nvSpPr>
          <p:cNvPr id="15" name="TextBox 14">
            <a:extLst>
              <a:ext uri="{FF2B5EF4-FFF2-40B4-BE49-F238E27FC236}">
                <a16:creationId xmlns:a16="http://schemas.microsoft.com/office/drawing/2014/main" id="{D4EA9305-76FF-835C-CCD1-4773E9116FAA}"/>
              </a:ext>
            </a:extLst>
          </p:cNvPr>
          <p:cNvSpPr txBox="1"/>
          <p:nvPr/>
        </p:nvSpPr>
        <p:spPr>
          <a:xfrm>
            <a:off x="8633460" y="1455928"/>
            <a:ext cx="1546449" cy="338554"/>
          </a:xfrm>
          <a:prstGeom prst="rect">
            <a:avLst/>
          </a:prstGeom>
          <a:noFill/>
        </p:spPr>
        <p:txBody>
          <a:bodyPr wrap="none">
            <a:spAutoFit/>
          </a:bodyPr>
          <a:lstStyle/>
          <a:p>
            <a:r>
              <a:rPr sz="1600" b="1" dirty="0">
                <a:solidFill>
                  <a:srgbClr val="0066CC"/>
                </a:solidFill>
              </a:rPr>
              <a:t>Code Example</a:t>
            </a:r>
          </a:p>
        </p:txBody>
      </p:sp>
      <p:sp>
        <p:nvSpPr>
          <p:cNvPr id="17" name="TextBox 16">
            <a:extLst>
              <a:ext uri="{FF2B5EF4-FFF2-40B4-BE49-F238E27FC236}">
                <a16:creationId xmlns:a16="http://schemas.microsoft.com/office/drawing/2014/main" id="{D42CE372-7BEF-68AD-EF72-A62B54A9B323}"/>
              </a:ext>
            </a:extLst>
          </p:cNvPr>
          <p:cNvSpPr txBox="1"/>
          <p:nvPr/>
        </p:nvSpPr>
        <p:spPr>
          <a:xfrm>
            <a:off x="7011214" y="1924914"/>
            <a:ext cx="4768645" cy="1200329"/>
          </a:xfrm>
          <a:prstGeom prst="rect">
            <a:avLst/>
          </a:prstGeom>
          <a:noFill/>
        </p:spPr>
        <p:txBody>
          <a:bodyPr wrap="square">
            <a:spAutoFit/>
          </a:bodyPr>
          <a:lstStyle/>
          <a:p>
            <a:r>
              <a:rPr lang="en-US" sz="1200" b="1" dirty="0">
                <a:solidFill>
                  <a:srgbClr val="FFFFFF"/>
                </a:solidFill>
                <a:latin typeface="Consolas"/>
              </a:rPr>
              <a:t># Create Month and Year columns</a:t>
            </a:r>
          </a:p>
          <a:p>
            <a:endParaRPr lang="en-US" sz="1200" b="1" dirty="0">
              <a:solidFill>
                <a:srgbClr val="FFFFFF"/>
              </a:solidFill>
              <a:latin typeface="Consolas"/>
            </a:endParaRPr>
          </a:p>
          <a:p>
            <a:r>
              <a:rPr lang="en-US" sz="1200" b="1" dirty="0" err="1">
                <a:solidFill>
                  <a:srgbClr val="FFFFFF"/>
                </a:solidFill>
                <a:latin typeface="Consolas"/>
              </a:rPr>
              <a:t>self.storesales</a:t>
            </a:r>
            <a:r>
              <a:rPr lang="en-US" sz="1200" b="1" dirty="0">
                <a:solidFill>
                  <a:srgbClr val="FFFFFF"/>
                </a:solidFill>
                <a:latin typeface="Consolas"/>
              </a:rPr>
              <a:t>["Month"] = (        </a:t>
            </a:r>
            <a:r>
              <a:rPr lang="en-US" sz="1200" b="1" dirty="0" err="1">
                <a:solidFill>
                  <a:srgbClr val="FFFFFF"/>
                </a:solidFill>
                <a:latin typeface="Consolas"/>
              </a:rPr>
              <a:t>self.storesales</a:t>
            </a:r>
            <a:r>
              <a:rPr lang="en-US" sz="1200" b="1" dirty="0">
                <a:solidFill>
                  <a:srgbClr val="FFFFFF"/>
                </a:solidFill>
                <a:latin typeface="Consolas"/>
              </a:rPr>
              <a:t>["Transaction Date"].</a:t>
            </a:r>
            <a:r>
              <a:rPr lang="en-US" sz="1200" b="1" dirty="0" err="1">
                <a:solidFill>
                  <a:srgbClr val="FFFFFF"/>
                </a:solidFill>
                <a:latin typeface="Consolas"/>
              </a:rPr>
              <a:t>dt.month_name</a:t>
            </a:r>
            <a:r>
              <a:rPr lang="en-US" sz="1200" b="1" dirty="0">
                <a:solidFill>
                  <a:srgbClr val="FFFFFF"/>
                </a:solidFill>
                <a:latin typeface="Consolas"/>
              </a:rPr>
              <a:t>())    </a:t>
            </a:r>
            <a:r>
              <a:rPr lang="en-US" sz="1200" b="1" dirty="0" err="1">
                <a:solidFill>
                  <a:srgbClr val="FFFFFF"/>
                </a:solidFill>
                <a:latin typeface="Consolas"/>
              </a:rPr>
              <a:t>self.storesales</a:t>
            </a:r>
            <a:r>
              <a:rPr lang="en-US" sz="1200" b="1" dirty="0">
                <a:solidFill>
                  <a:srgbClr val="FFFFFF"/>
                </a:solidFill>
                <a:latin typeface="Consolas"/>
              </a:rPr>
              <a:t>["Year"] = (        </a:t>
            </a:r>
            <a:r>
              <a:rPr lang="en-US" sz="1200" b="1" dirty="0" err="1">
                <a:solidFill>
                  <a:srgbClr val="FFFFFF"/>
                </a:solidFill>
                <a:latin typeface="Consolas"/>
              </a:rPr>
              <a:t>self.storesales</a:t>
            </a:r>
            <a:r>
              <a:rPr lang="en-US" sz="1200" b="1" dirty="0">
                <a:solidFill>
                  <a:srgbClr val="FFFFFF"/>
                </a:solidFill>
                <a:latin typeface="Consolas"/>
              </a:rPr>
              <a:t>["Transaction Date"].</a:t>
            </a:r>
            <a:r>
              <a:rPr lang="en-US" sz="1200" b="1" dirty="0" err="1">
                <a:solidFill>
                  <a:srgbClr val="FFFFFF"/>
                </a:solidFill>
                <a:latin typeface="Consolas"/>
              </a:rPr>
              <a:t>dt.year</a:t>
            </a:r>
            <a:r>
              <a:rPr lang="en-US" sz="1200" b="1" dirty="0">
                <a:solidFill>
                  <a:srgbClr val="FFFFFF"/>
                </a:solidFill>
                <a:latin typeface="Consolas"/>
              </a:rPr>
              <a:t>)</a:t>
            </a:r>
            <a:endParaRPr lang="en-US" dirty="0"/>
          </a:p>
        </p:txBody>
      </p:sp>
      <p:sp>
        <p:nvSpPr>
          <p:cNvPr id="6" name="TextBox 5">
            <a:extLst>
              <a:ext uri="{FF2B5EF4-FFF2-40B4-BE49-F238E27FC236}">
                <a16:creationId xmlns:a16="http://schemas.microsoft.com/office/drawing/2014/main" id="{F922015F-81C8-9C48-4580-2743ADE44940}"/>
              </a:ext>
            </a:extLst>
          </p:cNvPr>
          <p:cNvSpPr txBox="1"/>
          <p:nvPr/>
        </p:nvSpPr>
        <p:spPr>
          <a:xfrm>
            <a:off x="7022361" y="3149455"/>
            <a:ext cx="4768645" cy="1015663"/>
          </a:xfrm>
          <a:prstGeom prst="rect">
            <a:avLst/>
          </a:prstGeom>
          <a:noFill/>
        </p:spPr>
        <p:txBody>
          <a:bodyPr wrap="square">
            <a:spAutoFit/>
          </a:bodyPr>
          <a:lstStyle/>
          <a:p>
            <a:r>
              <a:rPr lang="en-US" sz="1200" b="1" dirty="0">
                <a:solidFill>
                  <a:srgbClr val="FFFFFF"/>
                </a:solidFill>
                <a:latin typeface="Consolas"/>
              </a:rPr>
              <a:t># Group transaction counts</a:t>
            </a:r>
          </a:p>
          <a:p>
            <a:endParaRPr lang="en-US" sz="1200" b="1" dirty="0">
              <a:solidFill>
                <a:srgbClr val="FFFFFF"/>
              </a:solidFill>
              <a:latin typeface="Consolas"/>
            </a:endParaRPr>
          </a:p>
          <a:p>
            <a:r>
              <a:rPr lang="en-US" sz="1200" b="1" dirty="0" err="1">
                <a:solidFill>
                  <a:srgbClr val="FFFFFF"/>
                </a:solidFill>
                <a:latin typeface="Consolas"/>
              </a:rPr>
              <a:t>self.transaction_summary</a:t>
            </a:r>
            <a:r>
              <a:rPr lang="en-US" sz="1200" b="1" dirty="0">
                <a:solidFill>
                  <a:srgbClr val="FFFFFF"/>
                </a:solidFill>
                <a:latin typeface="Consolas"/>
              </a:rPr>
              <a:t> = </a:t>
            </a:r>
            <a:r>
              <a:rPr lang="en-US" sz="1200" b="1" dirty="0" err="1">
                <a:solidFill>
                  <a:srgbClr val="FFFFFF"/>
                </a:solidFill>
                <a:latin typeface="Consolas"/>
              </a:rPr>
              <a:t>self.filtered_territories.groupby</a:t>
            </a:r>
            <a:r>
              <a:rPr lang="en-US" sz="1200" b="1" dirty="0">
                <a:solidFill>
                  <a:srgbClr val="FFFFFF"/>
                </a:solidFill>
                <a:latin typeface="Consolas"/>
              </a:rPr>
              <a:t>(["Year", "Month", "State", "Category"]    )["Prod Num"].count()</a:t>
            </a:r>
          </a:p>
        </p:txBody>
      </p:sp>
      <p:pic>
        <p:nvPicPr>
          <p:cNvPr id="7" name="Picture 6">
            <a:extLst>
              <a:ext uri="{FF2B5EF4-FFF2-40B4-BE49-F238E27FC236}">
                <a16:creationId xmlns:a16="http://schemas.microsoft.com/office/drawing/2014/main" id="{CB7E8874-FA3F-BD4C-47F6-8A78CB46C5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503" y="5221770"/>
            <a:ext cx="3231948" cy="1613492"/>
          </a:xfrm>
          <a:prstGeom prst="rect">
            <a:avLst/>
          </a:prstGeom>
        </p:spPr>
      </p:pic>
      <p:sp>
        <p:nvSpPr>
          <p:cNvPr id="8" name="TextBox 7">
            <a:extLst>
              <a:ext uri="{FF2B5EF4-FFF2-40B4-BE49-F238E27FC236}">
                <a16:creationId xmlns:a16="http://schemas.microsoft.com/office/drawing/2014/main" id="{178F16D5-0C0D-4C26-6322-6482A68EFD8B}"/>
              </a:ext>
            </a:extLst>
          </p:cNvPr>
          <p:cNvSpPr txBox="1"/>
          <p:nvPr/>
        </p:nvSpPr>
        <p:spPr>
          <a:xfrm>
            <a:off x="7011212" y="5402072"/>
            <a:ext cx="4768645" cy="646331"/>
          </a:xfrm>
          <a:prstGeom prst="rect">
            <a:avLst/>
          </a:prstGeom>
          <a:noFill/>
        </p:spPr>
        <p:txBody>
          <a:bodyPr wrap="square">
            <a:spAutoFit/>
          </a:bodyPr>
          <a:lstStyle/>
          <a:p>
            <a:r>
              <a:rPr lang="en-US" sz="1200" b="1" dirty="0">
                <a:solidFill>
                  <a:srgbClr val="FFFFFF"/>
                </a:solidFill>
                <a:latin typeface="Consolas"/>
              </a:rPr>
              <a:t># Run Method</a:t>
            </a:r>
          </a:p>
          <a:p>
            <a:endParaRPr lang="en-US" sz="1200" b="1" dirty="0">
              <a:solidFill>
                <a:srgbClr val="FFFFFF"/>
              </a:solidFill>
              <a:latin typeface="Consolas"/>
            </a:endParaRPr>
          </a:p>
          <a:p>
            <a:r>
              <a:rPr lang="en-US" sz="1200" b="1" dirty="0" err="1">
                <a:solidFill>
                  <a:srgbClr val="FFFFFF"/>
                </a:solidFill>
                <a:latin typeface="Consolas"/>
              </a:rPr>
              <a:t>data_info.monthly_category_analysis</a:t>
            </a:r>
            <a:r>
              <a:rPr lang="en-US" sz="1200" b="1" dirty="0">
                <a:solidFill>
                  <a:srgbClr val="FFFFFF"/>
                </a:solidFill>
                <a:latin typeface="Consolas"/>
              </a:rPr>
              <a:t>()</a:t>
            </a:r>
            <a:endParaRPr lang="en-US" dirty="0"/>
          </a:p>
        </p:txBody>
      </p:sp>
    </p:spTree>
    <p:extLst>
      <p:ext uri="{BB962C8B-B14F-4D97-AF65-F5344CB8AC3E}">
        <p14:creationId xmlns:p14="http://schemas.microsoft.com/office/powerpoint/2010/main" val="1020859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5AC6C-175F-1E17-DF0A-078098431D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68CF7-E723-627D-3B30-546CE1321117}"/>
              </a:ext>
            </a:extLst>
          </p:cNvPr>
          <p:cNvSpPr>
            <a:spLocks noGrp="1"/>
          </p:cNvSpPr>
          <p:nvPr>
            <p:ph type="title"/>
          </p:nvPr>
        </p:nvSpPr>
        <p:spPr>
          <a:xfrm>
            <a:off x="457199" y="462844"/>
            <a:ext cx="11238090" cy="2147328"/>
          </a:xfrm>
        </p:spPr>
        <p:txBody>
          <a:bodyPr anchor="b">
            <a:normAutofit/>
          </a:bodyPr>
          <a:lstStyle/>
          <a:p>
            <a:r>
              <a:rPr lang="en-US" sz="6800"/>
              <a:t>Business Recommendation </a:t>
            </a:r>
          </a:p>
        </p:txBody>
      </p:sp>
      <p:sp>
        <p:nvSpPr>
          <p:cNvPr id="4" name="Content Placeholder 3">
            <a:extLst>
              <a:ext uri="{FF2B5EF4-FFF2-40B4-BE49-F238E27FC236}">
                <a16:creationId xmlns:a16="http://schemas.microsoft.com/office/drawing/2014/main" id="{D33F90A6-4D66-CB57-45F5-230BA44AED8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59022" y="3073016"/>
            <a:ext cx="6536267" cy="3226184"/>
          </a:xfrm>
        </p:spPr>
        <p:txBody>
          <a:bodyPr>
            <a:normAutofit/>
          </a:bodyPr>
          <a:lstStyle/>
          <a:p>
            <a:pPr marL="0" lvl="0" indent="0">
              <a:spcBef>
                <a:spcPts val="2500"/>
              </a:spcBef>
              <a:buNone/>
            </a:pPr>
            <a:r>
              <a:rPr lang="en-US" sz="1400" b="1" dirty="0"/>
              <a:t>Based on the analysis, I recommend focusing marketing efforts on the Colorado territory because it consistently generated the highest sales revenue and contained most of the top performing stores. </a:t>
            </a:r>
          </a:p>
          <a:p>
            <a:pPr marL="0" lvl="0" indent="0">
              <a:spcBef>
                <a:spcPts val="2500"/>
              </a:spcBef>
              <a:buNone/>
            </a:pPr>
            <a:r>
              <a:rPr lang="en-US" sz="1400" b="1" dirty="0"/>
              <a:t>Marketing campaigns should emphasize high demand categories such as Technology &amp; Accessories, Stationery and Supplies, and Textbooks while also using targeted promotions to increase sales in lower performing categories. </a:t>
            </a:r>
          </a:p>
        </p:txBody>
      </p:sp>
      <p:pic>
        <p:nvPicPr>
          <p:cNvPr id="3" name="Content Placeholder 4" descr="White calendar sitting on blue financial graph. Horizontal composition with selective focus and copy space. Investment, stock market data and financial planning concept.">
            <a:extLst>
              <a:ext uri="{FF2B5EF4-FFF2-40B4-BE49-F238E27FC236}">
                <a16:creationId xmlns:a16="http://schemas.microsoft.com/office/drawing/2014/main" id="{498B7549-B2C4-EBA2-502A-A811807F56FB}"/>
              </a:ext>
            </a:extLst>
          </p:cNvPr>
          <p:cNvPicPr>
            <a:picLocks noChangeAspect="1"/>
          </p:cNvPicPr>
          <p:nvPr/>
        </p:nvPicPr>
        <p:blipFill>
          <a:blip r:embed="rId3"/>
          <a:srcRect l="17611" r="17611"/>
          <a:stretch/>
        </p:blipFill>
        <p:spPr>
          <a:xfrm>
            <a:off x="1" y="2783841"/>
            <a:ext cx="4297680" cy="4074159"/>
          </a:xfrm>
          <a:prstGeom prst="rect">
            <a:avLst/>
          </a:prstGeom>
          <a:noFill/>
        </p:spPr>
      </p:pic>
    </p:spTree>
    <p:extLst>
      <p:ext uri="{BB962C8B-B14F-4D97-AF65-F5344CB8AC3E}">
        <p14:creationId xmlns:p14="http://schemas.microsoft.com/office/powerpoint/2010/main" val="2151938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693CF-738C-2AEE-D4B4-B1C6D72DF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9C730-CF46-7853-93A4-73C0C26E85BA}"/>
              </a:ext>
            </a:extLst>
          </p:cNvPr>
          <p:cNvSpPr>
            <a:spLocks noGrp="1"/>
          </p:cNvSpPr>
          <p:nvPr>
            <p:ph type="title"/>
          </p:nvPr>
        </p:nvSpPr>
        <p:spPr/>
        <p:txBody>
          <a:bodyPr/>
          <a:lstStyle/>
          <a:p>
            <a:r>
              <a:rPr lang="en-US" dirty="0"/>
              <a:t>Monthly Revenue by Product Category – Colorado </a:t>
            </a:r>
          </a:p>
        </p:txBody>
      </p:sp>
      <p:pic>
        <p:nvPicPr>
          <p:cNvPr id="10" name="Picture 9">
            <a:extLst>
              <a:ext uri="{FF2B5EF4-FFF2-40B4-BE49-F238E27FC236}">
                <a16:creationId xmlns:a16="http://schemas.microsoft.com/office/drawing/2014/main" id="{5E3D40B3-0DA1-48E6-CECC-D9BEC9175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30960"/>
            <a:ext cx="12192000" cy="5801360"/>
          </a:xfrm>
          <a:prstGeom prst="rect">
            <a:avLst/>
          </a:prstGeom>
        </p:spPr>
      </p:pic>
    </p:spTree>
    <p:extLst>
      <p:ext uri="{BB962C8B-B14F-4D97-AF65-F5344CB8AC3E}">
        <p14:creationId xmlns:p14="http://schemas.microsoft.com/office/powerpoint/2010/main" val="821702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1FE8C-9CDA-E91A-AAB5-3F017D103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7A9FB0-1A5C-3EE3-75FE-42A27C1BB255}"/>
              </a:ext>
            </a:extLst>
          </p:cNvPr>
          <p:cNvSpPr>
            <a:spLocks noGrp="1"/>
          </p:cNvSpPr>
          <p:nvPr>
            <p:ph type="title"/>
          </p:nvPr>
        </p:nvSpPr>
        <p:spPr/>
        <p:txBody>
          <a:bodyPr/>
          <a:lstStyle/>
          <a:p>
            <a:r>
              <a:rPr lang="en-US" dirty="0"/>
              <a:t>Top 5 Customers by Revenue- South Carolina</a:t>
            </a:r>
          </a:p>
        </p:txBody>
      </p:sp>
      <p:pic>
        <p:nvPicPr>
          <p:cNvPr id="6" name="Picture 5">
            <a:extLst>
              <a:ext uri="{FF2B5EF4-FFF2-40B4-BE49-F238E27FC236}">
                <a16:creationId xmlns:a16="http://schemas.microsoft.com/office/drawing/2014/main" id="{8BABB97B-C6E9-BE1B-88AE-64BAA6D85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82032"/>
            <a:ext cx="12192000" cy="5775968"/>
          </a:xfrm>
          <a:prstGeom prst="rect">
            <a:avLst/>
          </a:prstGeom>
        </p:spPr>
      </p:pic>
    </p:spTree>
    <p:extLst>
      <p:ext uri="{BB962C8B-B14F-4D97-AF65-F5344CB8AC3E}">
        <p14:creationId xmlns:p14="http://schemas.microsoft.com/office/powerpoint/2010/main" val="404674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98E11-79B9-E9D8-5CC0-47F2635390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BEBE3-47AC-82B7-F1F3-68B99C7ABC7E}"/>
              </a:ext>
            </a:extLst>
          </p:cNvPr>
          <p:cNvSpPr>
            <a:spLocks noGrp="1"/>
          </p:cNvSpPr>
          <p:nvPr>
            <p:ph type="title"/>
          </p:nvPr>
        </p:nvSpPr>
        <p:spPr>
          <a:xfrm>
            <a:off x="457198" y="275303"/>
            <a:ext cx="11036712" cy="875579"/>
          </a:xfrm>
        </p:spPr>
        <p:txBody>
          <a:bodyPr>
            <a:normAutofit/>
          </a:bodyPr>
          <a:lstStyle/>
          <a:p>
            <a:r>
              <a:rPr lang="en-US" dirty="0"/>
              <a:t>GitHub Repository: </a:t>
            </a:r>
            <a:br>
              <a:rPr lang="en-US" dirty="0"/>
            </a:br>
            <a:r>
              <a:rPr lang="en-US" dirty="0"/>
              <a:t>https://github.com/antoniokasaiah-data-analyst/Capstone_2.git</a:t>
            </a:r>
          </a:p>
        </p:txBody>
      </p:sp>
      <p:pic>
        <p:nvPicPr>
          <p:cNvPr id="5" name="Picture 4">
            <a:extLst>
              <a:ext uri="{FF2B5EF4-FFF2-40B4-BE49-F238E27FC236}">
                <a16:creationId xmlns:a16="http://schemas.microsoft.com/office/drawing/2014/main" id="{DA56B1DC-4405-BBD7-E6E9-578C78D492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1440"/>
            <a:ext cx="12192000" cy="5496560"/>
          </a:xfrm>
          <a:prstGeom prst="rect">
            <a:avLst/>
          </a:prstGeom>
        </p:spPr>
      </p:pic>
    </p:spTree>
    <p:extLst>
      <p:ext uri="{BB962C8B-B14F-4D97-AF65-F5344CB8AC3E}">
        <p14:creationId xmlns:p14="http://schemas.microsoft.com/office/powerpoint/2010/main" val="1297181334"/>
      </p:ext>
    </p:extLst>
  </p:cSld>
  <p:clrMapOvr>
    <a:masterClrMapping/>
  </p:clrMapOvr>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3060</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Bierstadt</vt:lpstr>
      <vt:lpstr>Calibri</vt:lpstr>
      <vt:lpstr>Consolas</vt:lpstr>
      <vt:lpstr>Bevel</vt:lpstr>
      <vt:lpstr>Capstone Project Analyzing Sales Regions Using Python</vt:lpstr>
      <vt:lpstr>Introduction</vt:lpstr>
      <vt:lpstr>Sales Analysis Questions</vt:lpstr>
      <vt:lpstr>PowerPoint Presentation</vt:lpstr>
      <vt:lpstr>Territory Analysis</vt:lpstr>
      <vt:lpstr>Monthly Territory Analysis By Year</vt:lpstr>
      <vt:lpstr>Store Ranking Analysis</vt:lpstr>
      <vt:lpstr>Top Customer Per Territory Analysis</vt:lpstr>
      <vt:lpstr>Monthly Product Category Performance Analysis</vt:lpstr>
      <vt:lpstr>Business Recommendation </vt:lpstr>
      <vt:lpstr>Monthly Revenue by Product Category – Colorado </vt:lpstr>
      <vt:lpstr>Top 5 Customers by Revenue- South Carolina</vt:lpstr>
      <vt:lpstr>GitHub Repository:  https://github.com/antoniokasaiah-data-analyst/Capstone_2.git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kantonio@my.yearupunited.org</dc:creator>
  <cp:lastModifiedBy>Kasaiah Antonio</cp:lastModifiedBy>
  <cp:revision>1</cp:revision>
  <dcterms:modified xsi:type="dcterms:W3CDTF">2026-05-29T01:09:15Z</dcterms:modified>
</cp:coreProperties>
</file>